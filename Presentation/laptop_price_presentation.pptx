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50" r:id="rId1"/>
  </p:sldMasterIdLst>
  <p:notesMasterIdLst>
    <p:notesMasterId r:id="rId2"/>
  </p:notesMasterIdLst>
  <p:sldIdLst>
    <p:sldId id="280" r:id="rId3"/>
    <p:sldId id="281" r:id="rId4"/>
    <p:sldId id="282" r:id="rId5"/>
    <p:sldId id="283" r:id="rId6"/>
    <p:sldId id="284" r:id="rId7"/>
    <p:sldId id="285" r:id="rId8"/>
    <p:sldId id="286" r:id="rId9"/>
    <p:sldId id="287" r:id="rId10"/>
    <p:sldId id="288" r:id="rId11"/>
    <p:sldId id="289" r:id="rId12"/>
    <p:sldId id="291" r:id="rId13"/>
  </p:sldIdLst>
  <p:sldSz type="screen16x9" cy="5143500" cx="9144000"/>
  <p:notesSz cx="5143500" cy="9144000"/>
  <p:defaultTextStyle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677" y="72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tableStyles" Target="tableStyles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2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0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>Introduce yourself and the project. Mention this is Project 08 in your portfolio — a regression project focused on data engineering and end-to-end ML pipeline building.</a:t>
            </a:r>
          </a:p>
        </p:txBody>
      </p:sp>
      <p:sp>
        <p:nvSpPr>
          <p:cNvPr id="104870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1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>Explain the practical gap this project addresses. Laptop pricing is opaque — this model gives anyone a data-backed estimate from specs alone.</a:t>
            </a:r>
          </a:p>
        </p:txBody>
      </p:sp>
      <p:sp>
        <p:nvSpPr>
          <p:cNvPr id="104871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4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7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>Walk through each data source briefly. Emphasise the synthetic dataset rejection — this shows real data engineering judgment, not just running code.</a:t>
            </a:r>
          </a:p>
        </p:txBody>
      </p:sp>
      <p:sp>
        <p:nvSpPr>
          <p:cNvPr id="104877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9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>The key message here is that cleaning happened per-source, not on the merged dataset. This is the industry-standard ETL approach and shows data engineering maturity.</a:t>
            </a:r>
          </a:p>
        </p:txBody>
      </p:sp>
      <p:sp>
        <p:nvSpPr>
          <p:cNvPr id="104879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8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>The 3,918 rows represents a clean, real-world dataset. Emphasise that 0 nulls and 0 duplicates was the result of careful per-source cleaning, not luck.</a:t>
            </a:r>
          </a:p>
        </p:txBody>
      </p:sp>
      <p:sp>
        <p:nvSpPr>
          <p:cNvPr id="104888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8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91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>Pick 2–3 findings to elaborate on verbally. The skewness and brand premium findings tend to resonate most with interviewers.</a:t>
            </a:r>
          </a:p>
        </p:txBody>
      </p:sp>
      <p:sp>
        <p:nvSpPr>
          <p:cNvPr id="104892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9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>The key decision to highlight is target encoding for brand — it avoids 36 sparse dummy columns and directly encodes the brand's price positioning as a single dense numeric.</a:t>
            </a:r>
          </a:p>
        </p:txBody>
      </p:sp>
      <p:sp>
        <p:nvSpPr>
          <p:cNvPr id="104869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4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>The R² difference between Linear and Ridge is &lt;0.001 — the data is not severely overfitting. Ridge wins as the production model because it is more robust on unseen data even when the training advantage is marginal.</a:t>
            </a:r>
          </a:p>
        </p:txBody>
      </p:sp>
      <p:sp>
        <p:nvSpPr>
          <p:cNvPr id="104864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1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>The actual vs predicted scatter shows the model performs well across the full price range. Mention that the few outlier points at the extremes are niche high-end configurations with limited training examples.</a:t>
            </a:r>
          </a:p>
        </p:txBody>
      </p:sp>
      <p:sp>
        <p:nvSpPr>
          <p:cNvPr id="104861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9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59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>Wrap up by connecting the takeaways back to the problem statement. The model is production-ready as a pricing benchmark tool for buyers or e-commerce platforms.</a:t>
            </a:r>
          </a:p>
        </p:txBody>
      </p:sp>
      <p:sp>
        <p:nvSpPr>
          <p:cNvPr id="104859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0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>End with the GitHub link so interviewers can explore the full project — EDA notebook, feature engineering, modeling scripts, and the cleaned master CSV.</a:t>
            </a:r>
          </a:p>
        </p:txBody>
      </p:sp>
      <p:sp>
        <p:nvSpPr>
          <p:cNvPr id="104860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hlink="hlink" folHlink="folHlink"/>
  <p:sldLayoutIdLst>
    <p:sldLayoutId id="2147483651" r:id="rId1"/>
  </p:sldLayoutIdLst>
  <p:hf dt="0" ftr="0" hdr="0" sldNum="0"/>
  <p:txStyles>
    <p:titleStyle>
      <a:lvl1pPr algn="ctr" defTabSz="9144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4" name="Shape 0"/>
          <p:cNvSpPr/>
          <p:nvPr/>
        </p:nvSpPr>
        <p:spPr>
          <a:xfrm>
            <a:off x="7132320" y="-731520"/>
            <a:ext cx="3200400" cy="3200400"/>
          </a:xfrm>
          <a:prstGeom prst="ellipse"/>
          <a:solidFill>
            <a:srgbClr val="253380">
              <a:alpha val="60000"/>
            </a:srgbClr>
          </a:solidFill>
          <a:ln w="12700">
            <a:solidFill>
              <a:srgbClr val="253380"/>
            </a:solidFill>
            <a:prstDash val="solid"/>
          </a:ln>
        </p:spPr>
      </p:sp>
      <p:sp>
        <p:nvSpPr>
          <p:cNvPr id="1048695" name="Shape 1"/>
          <p:cNvSpPr/>
          <p:nvPr/>
        </p:nvSpPr>
        <p:spPr>
          <a:xfrm>
            <a:off x="-731520" y="3200400"/>
            <a:ext cx="2286000" cy="2286000"/>
          </a:xfrm>
          <a:prstGeom prst="ellipse"/>
          <a:solidFill>
            <a:srgbClr val="253380">
              <a:alpha val="60000"/>
            </a:srgbClr>
          </a:solidFill>
          <a:ln w="12700">
            <a:solidFill>
              <a:srgbClr val="253380"/>
            </a:solidFill>
            <a:prstDash val="solid"/>
          </a:ln>
        </p:spPr>
      </p:sp>
      <p:sp>
        <p:nvSpPr>
          <p:cNvPr id="1048696" name="Text 3"/>
          <p:cNvSpPr/>
          <p:nvPr/>
        </p:nvSpPr>
        <p:spPr>
          <a:xfrm>
            <a:off x="457200" y="1237954"/>
            <a:ext cx="8229600" cy="7772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44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Laptop Price Prediction</a:t>
            </a:r>
            <a:endParaRPr dirty="0" sz="4400" lang="en-US"/>
          </a:p>
        </p:txBody>
      </p:sp>
      <p:sp>
        <p:nvSpPr>
          <p:cNvPr id="1048697" name="Text 4"/>
          <p:cNvSpPr/>
          <p:nvPr/>
        </p:nvSpPr>
        <p:spPr>
          <a:xfrm>
            <a:off x="457200" y="2050364"/>
            <a:ext cx="822960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2600" lang="en-US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Machine Learning</a:t>
            </a:r>
            <a:endParaRPr dirty="0" sz="2600" lang="en-US"/>
          </a:p>
        </p:txBody>
      </p:sp>
      <p:sp>
        <p:nvSpPr>
          <p:cNvPr id="1048698" name="Text 5"/>
          <p:cNvSpPr/>
          <p:nvPr/>
        </p:nvSpPr>
        <p:spPr>
          <a:xfrm>
            <a:off x="914400" y="2834640"/>
            <a:ext cx="7315200" cy="3200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300" i="1" lang="en-US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laptop prices from real-world multi-source data using regression</a:t>
            </a:r>
            <a:endParaRPr dirty="0" sz="1300" lang="en-US"/>
          </a:p>
        </p:txBody>
      </p:sp>
      <p:sp>
        <p:nvSpPr>
          <p:cNvPr id="1048699" name="Shape 6"/>
          <p:cNvSpPr/>
          <p:nvPr/>
        </p:nvSpPr>
        <p:spPr>
          <a:xfrm>
            <a:off x="3200400" y="3246120"/>
            <a:ext cx="2743200" cy="36576"/>
          </a:xfrm>
          <a:prstGeom prst="rect"/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48700" name="Text 7"/>
          <p:cNvSpPr/>
          <p:nvPr/>
        </p:nvSpPr>
        <p:spPr>
          <a:xfrm>
            <a:off x="457200" y="3429000"/>
            <a:ext cx="8229600" cy="3200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Samarth Singh</a:t>
            </a:r>
            <a:endParaRPr dirty="0" sz="1400" lang="en-US"/>
          </a:p>
        </p:txBody>
      </p:sp>
      <p:sp>
        <p:nvSpPr>
          <p:cNvPr id="1048701" name="Text 8"/>
          <p:cNvSpPr/>
          <p:nvPr/>
        </p:nvSpPr>
        <p:spPr>
          <a:xfrm>
            <a:off x="457200" y="3749040"/>
            <a:ext cx="8229600" cy="25603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100" lang="en-US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Aspiring Data Analyst</a:t>
            </a:r>
            <a:endParaRPr dirty="0" sz="1100"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5" name="Text 0"/>
          <p:cNvSpPr/>
          <p:nvPr/>
        </p:nvSpPr>
        <p:spPr>
          <a:xfrm>
            <a:off x="365760" y="164592"/>
            <a:ext cx="8412480" cy="475488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b="1" dirty="0" sz="2800" lang="en-US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dirty="0" sz="2800" lang="en-US"/>
          </a:p>
        </p:txBody>
      </p:sp>
      <p:sp>
        <p:nvSpPr>
          <p:cNvPr id="1048706" name="Shape 1"/>
          <p:cNvSpPr/>
          <p:nvPr/>
        </p:nvSpPr>
        <p:spPr>
          <a:xfrm>
            <a:off x="365760" y="658368"/>
            <a:ext cx="914400" cy="41148"/>
          </a:xfrm>
          <a:prstGeom prst="rect"/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48707" name="Text 2"/>
          <p:cNvSpPr/>
          <p:nvPr/>
        </p:nvSpPr>
        <p:spPr>
          <a:xfrm>
            <a:off x="365760" y="822960"/>
            <a:ext cx="8412480" cy="54864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dirty="0" sz="1300" lang="en-US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prices vary dramatically across brands, specs, and regions — yet buyers and businesses often lack a systematic way to estimate fair value.</a:t>
            </a:r>
            <a:endParaRPr dirty="0" sz="1300" lang="en-US"/>
          </a:p>
        </p:txBody>
      </p:sp>
      <p:sp>
        <p:nvSpPr>
          <p:cNvPr id="1048708" name="Shape 3"/>
          <p:cNvSpPr/>
          <p:nvPr/>
        </p:nvSpPr>
        <p:spPr>
          <a:xfrm>
            <a:off x="320040" y="1463040"/>
            <a:ext cx="4114800" cy="2834640"/>
          </a:xfrm>
          <a:prstGeom prst="roundRect">
            <a:avLst>
              <a:gd name="adj" fmla="val 3226"/>
            </a:avLst>
          </a:prstGeom>
          <a:solidFill>
            <a:schemeClr val="accent1">
              <a:lumMod val="20000"/>
              <a:lumOff val="80000"/>
            </a:schemeClr>
          </a:solidFill>
          <a:effectLst>
            <a:outerShdw algn="bl" blurRad="101600" dir="2700000" dist="25400" rotWithShape="0">
              <a:srgbClr val="000000">
                <a:alpha val="8000"/>
              </a:srgbClr>
            </a:outerShdw>
          </a:effectLst>
        </p:spPr>
      </p:sp>
      <p:sp>
        <p:nvSpPr>
          <p:cNvPr id="1048709" name="Text 4"/>
          <p:cNvSpPr/>
          <p:nvPr/>
        </p:nvSpPr>
        <p:spPr>
          <a:xfrm>
            <a:off x="457200" y="1597386"/>
            <a:ext cx="3291840" cy="3200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lang="en-US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</a:t>
            </a:r>
            <a:endParaRPr dirty="0" sz="1400" lang="en-US"/>
          </a:p>
        </p:txBody>
      </p:sp>
      <p:sp>
        <p:nvSpPr>
          <p:cNvPr id="1048710" name="Text 5"/>
          <p:cNvSpPr/>
          <p:nvPr/>
        </p:nvSpPr>
        <p:spPr>
          <a:xfrm>
            <a:off x="548640" y="2011680"/>
            <a:ext cx="3703320" cy="2103120"/>
          </a:xfrm>
          <a:prstGeom prst="rect"/>
          <a:noFill/>
        </p:spPr>
        <p:txBody>
          <a:bodyPr anchor="ctr" bIns="0" lIns="0" rIns="0" rtlCol="0" tIns="0" wrap="square"/>
          <a:p>
            <a:pPr indent="-342900" marL="342900">
              <a:spcAft>
                <a:spcPts val="400"/>
              </a:spcAft>
              <a:buSzPct val="100000"/>
              <a:buChar char="•"/>
            </a:pPr>
            <a:r>
              <a:rPr dirty="0" sz="1300" lang="en-US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compared manually — time-consuming</a:t>
            </a:r>
            <a:endParaRPr dirty="0" sz="1300" lang="en-US"/>
          </a:p>
          <a:p>
            <a:pPr indent="-342900" marL="342900">
              <a:spcAft>
                <a:spcPts val="400"/>
              </a:spcAft>
              <a:buSzPct val="100000"/>
              <a:buChar char="•"/>
            </a:pPr>
            <a:r>
              <a:rPr dirty="0" sz="1300" lang="en-US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benchmark for fair market value</a:t>
            </a:r>
            <a:endParaRPr dirty="0" sz="1300" lang="en-US"/>
          </a:p>
          <a:p>
            <a:pPr indent="-342900" marL="342900">
              <a:spcAft>
                <a:spcPts val="400"/>
              </a:spcAft>
              <a:buSzPct val="100000"/>
              <a:buChar char="•"/>
            </a:pPr>
            <a:r>
              <a:rPr dirty="0" sz="1300" lang="en-US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overpay for equivalent specs</a:t>
            </a:r>
            <a:endParaRPr dirty="0" sz="1300" lang="en-US"/>
          </a:p>
          <a:p>
            <a:pPr indent="0" marL="0">
              <a:buNone/>
            </a:pPr>
            <a:endParaRPr dirty="0" sz="1300" lang="en-US"/>
          </a:p>
        </p:txBody>
      </p:sp>
      <p:sp>
        <p:nvSpPr>
          <p:cNvPr id="1048711" name="Shape 6"/>
          <p:cNvSpPr/>
          <p:nvPr/>
        </p:nvSpPr>
        <p:spPr>
          <a:xfrm>
            <a:off x="4572000" y="1463040"/>
            <a:ext cx="4114800" cy="2834640"/>
          </a:xfrm>
          <a:prstGeom prst="roundRect">
            <a:avLst>
              <a:gd name="adj" fmla="val 3226"/>
            </a:avLst>
          </a:prstGeom>
          <a:solidFill>
            <a:schemeClr val="accent1">
              <a:lumMod val="40000"/>
              <a:lumOff val="60000"/>
            </a:schemeClr>
          </a:solidFill>
          <a:effectLst>
            <a:outerShdw algn="bl" blurRad="101600" dir="2700000" dist="25400" rotWithShape="0">
              <a:srgbClr val="000000">
                <a:alpha val="8000"/>
              </a:srgbClr>
            </a:outerShdw>
          </a:effectLst>
        </p:spPr>
      </p:sp>
      <p:sp>
        <p:nvSpPr>
          <p:cNvPr id="1048712" name="Text 7"/>
          <p:cNvSpPr/>
          <p:nvPr/>
        </p:nvSpPr>
        <p:spPr>
          <a:xfrm>
            <a:off x="4913141" y="1601606"/>
            <a:ext cx="3291840" cy="3200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lang="en-US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</a:t>
            </a:r>
            <a:endParaRPr dirty="0" lang="en-US"/>
          </a:p>
        </p:txBody>
      </p:sp>
      <p:sp>
        <p:nvSpPr>
          <p:cNvPr id="1048713" name="Text 8"/>
          <p:cNvSpPr/>
          <p:nvPr/>
        </p:nvSpPr>
        <p:spPr>
          <a:xfrm>
            <a:off x="4800600" y="2011680"/>
            <a:ext cx="3703320" cy="2103120"/>
          </a:xfrm>
          <a:prstGeom prst="rect"/>
          <a:noFill/>
        </p:spPr>
        <p:txBody>
          <a:bodyPr anchor="ctr" bIns="0" lIns="0" rIns="0" rtlCol="0" tIns="0" wrap="square"/>
          <a:p>
            <a:pPr indent="-342900" marL="342900">
              <a:spcAft>
                <a:spcPts val="400"/>
              </a:spcAft>
              <a:buSzPct val="100000"/>
              <a:buChar char="•"/>
            </a:pPr>
            <a:r>
              <a:rPr dirty="0" sz="1300" lang="en-US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price estimate from specs alone</a:t>
            </a:r>
            <a:endParaRPr dirty="0" sz="1300" lang="en-US"/>
          </a:p>
          <a:p>
            <a:pPr indent="-342900" marL="342900">
              <a:spcAft>
                <a:spcPts val="400"/>
              </a:spcAft>
              <a:buSzPct val="100000"/>
              <a:buChar char="•"/>
            </a:pPr>
            <a:r>
              <a:rPr dirty="0" sz="1300" lang="en-US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benchmark for any configuration</a:t>
            </a:r>
            <a:endParaRPr dirty="0" sz="1300" lang="en-US"/>
          </a:p>
          <a:p>
            <a:pPr indent="-342900" marL="342900">
              <a:spcAft>
                <a:spcPts val="400"/>
              </a:spcAft>
              <a:buSzPct val="100000"/>
              <a:buChar char="•"/>
            </a:pPr>
            <a:r>
              <a:rPr dirty="0" sz="1300" lang="en-US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Transparent, explainable predictions</a:t>
            </a:r>
            <a:endParaRPr dirty="0" sz="1300" lang="en-US"/>
          </a:p>
          <a:p>
            <a:pPr indent="0" marL="0">
              <a:buNone/>
            </a:pPr>
            <a:endParaRPr dirty="0" sz="1300" lang="en-US"/>
          </a:p>
        </p:txBody>
      </p:sp>
      <p:pic>
        <p:nvPicPr>
          <p:cNvPr id="2097163" name="Image 2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4206240" y="2651760"/>
            <a:ext cx="411480" cy="411480"/>
          </a:xfrm>
          <a:prstGeom prst="rect"/>
        </p:spPr>
      </p:pic>
      <p:sp>
        <p:nvSpPr>
          <p:cNvPr id="1048714" name="Shape 9"/>
          <p:cNvSpPr/>
          <p:nvPr/>
        </p:nvSpPr>
        <p:spPr>
          <a:xfrm>
            <a:off x="0" y="4796028"/>
            <a:ext cx="9144000" cy="347472"/>
          </a:xfrm>
          <a:prstGeom prst="rect"/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48715" name="Text 10"/>
          <p:cNvSpPr/>
          <p:nvPr/>
        </p:nvSpPr>
        <p:spPr>
          <a:xfrm>
            <a:off x="274320" y="4832604"/>
            <a:ext cx="859536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Price Prediction Using Machine Learning</a:t>
            </a:r>
            <a:endParaRPr dirty="0" sz="900"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9" name="Text 0"/>
          <p:cNvSpPr/>
          <p:nvPr/>
        </p:nvSpPr>
        <p:spPr>
          <a:xfrm>
            <a:off x="365760" y="164592"/>
            <a:ext cx="8412480" cy="475488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b="1" dirty="0" sz="2800" lang="en-US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Collection</a:t>
            </a:r>
            <a:endParaRPr dirty="0" sz="2800" lang="en-US"/>
          </a:p>
        </p:txBody>
      </p:sp>
      <p:sp>
        <p:nvSpPr>
          <p:cNvPr id="1048720" name="Shape 1"/>
          <p:cNvSpPr/>
          <p:nvPr/>
        </p:nvSpPr>
        <p:spPr>
          <a:xfrm>
            <a:off x="365760" y="658368"/>
            <a:ext cx="914400" cy="41148"/>
          </a:xfrm>
          <a:prstGeom prst="rect"/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48721" name="Text 2"/>
          <p:cNvSpPr/>
          <p:nvPr/>
        </p:nvSpPr>
        <p:spPr>
          <a:xfrm>
            <a:off x="365760" y="860944"/>
            <a:ext cx="8412480" cy="34747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200" lang="en-US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real-world Kaggle datasets merged after rejecting a 1.2M-row synthetic dataset detected during validation.</a:t>
            </a:r>
            <a:endParaRPr dirty="0" sz="1200" lang="en-US"/>
          </a:p>
        </p:txBody>
      </p:sp>
      <p:sp>
        <p:nvSpPr>
          <p:cNvPr id="1048722" name="Shape 3"/>
          <p:cNvSpPr/>
          <p:nvPr/>
        </p:nvSpPr>
        <p:spPr>
          <a:xfrm>
            <a:off x="320040" y="1492055"/>
            <a:ext cx="1920240" cy="292608"/>
          </a:xfrm>
          <a:prstGeom prst="rect"/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48723" name="Text 4"/>
          <p:cNvSpPr/>
          <p:nvPr/>
        </p:nvSpPr>
        <p:spPr>
          <a:xfrm>
            <a:off x="365760" y="1501199"/>
            <a:ext cx="187452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dirty="0" sz="1000" lang="en-US"/>
          </a:p>
        </p:txBody>
      </p:sp>
      <p:sp>
        <p:nvSpPr>
          <p:cNvPr id="1048724" name="Shape 5"/>
          <p:cNvSpPr/>
          <p:nvPr/>
        </p:nvSpPr>
        <p:spPr>
          <a:xfrm>
            <a:off x="2286000" y="1492055"/>
            <a:ext cx="2423160" cy="292608"/>
          </a:xfrm>
          <a:prstGeom prst="rect"/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48725" name="Text 6"/>
          <p:cNvSpPr/>
          <p:nvPr/>
        </p:nvSpPr>
        <p:spPr>
          <a:xfrm>
            <a:off x="2331720" y="1501199"/>
            <a:ext cx="237744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dirty="0" sz="1000" lang="en-US"/>
          </a:p>
        </p:txBody>
      </p:sp>
      <p:sp>
        <p:nvSpPr>
          <p:cNvPr id="1048726" name="Shape 7"/>
          <p:cNvSpPr/>
          <p:nvPr/>
        </p:nvSpPr>
        <p:spPr>
          <a:xfrm>
            <a:off x="4754880" y="1492055"/>
            <a:ext cx="1417320" cy="292608"/>
          </a:xfrm>
          <a:prstGeom prst="rect"/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48727" name="Text 8"/>
          <p:cNvSpPr/>
          <p:nvPr/>
        </p:nvSpPr>
        <p:spPr>
          <a:xfrm>
            <a:off x="4800600" y="1501199"/>
            <a:ext cx="137160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dirty="0" sz="1000" lang="en-US"/>
          </a:p>
        </p:txBody>
      </p:sp>
      <p:sp>
        <p:nvSpPr>
          <p:cNvPr id="1048728" name="Shape 9"/>
          <p:cNvSpPr/>
          <p:nvPr/>
        </p:nvSpPr>
        <p:spPr>
          <a:xfrm>
            <a:off x="6217920" y="1492055"/>
            <a:ext cx="1325880" cy="292608"/>
          </a:xfrm>
          <a:prstGeom prst="rect"/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48729" name="Text 10"/>
          <p:cNvSpPr/>
          <p:nvPr/>
        </p:nvSpPr>
        <p:spPr>
          <a:xfrm>
            <a:off x="6263640" y="1501199"/>
            <a:ext cx="128016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</a:t>
            </a:r>
            <a:endParaRPr dirty="0" sz="1000" lang="en-US"/>
          </a:p>
        </p:txBody>
      </p:sp>
      <p:sp>
        <p:nvSpPr>
          <p:cNvPr id="1048730" name="Shape 11"/>
          <p:cNvSpPr/>
          <p:nvPr/>
        </p:nvSpPr>
        <p:spPr>
          <a:xfrm>
            <a:off x="7589520" y="1492055"/>
            <a:ext cx="1325880" cy="292608"/>
          </a:xfrm>
          <a:prstGeom prst="rect"/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48731" name="Text 12"/>
          <p:cNvSpPr/>
          <p:nvPr/>
        </p:nvSpPr>
        <p:spPr>
          <a:xfrm>
            <a:off x="7635240" y="1501199"/>
            <a:ext cx="128016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dirty="0" sz="1000" lang="en-US"/>
          </a:p>
        </p:txBody>
      </p:sp>
      <p:sp>
        <p:nvSpPr>
          <p:cNvPr id="1048732" name="Shape 13"/>
          <p:cNvSpPr/>
          <p:nvPr/>
        </p:nvSpPr>
        <p:spPr>
          <a:xfrm>
            <a:off x="320040" y="1802951"/>
            <a:ext cx="1920240" cy="402336"/>
          </a:xfrm>
          <a:prstGeom prst="rect"/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8733" name="Text 14"/>
          <p:cNvSpPr/>
          <p:nvPr/>
        </p:nvSpPr>
        <p:spPr>
          <a:xfrm>
            <a:off x="393192" y="1821239"/>
            <a:ext cx="182880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50" lang="en-US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ds01 — laptop_price01</a:t>
            </a:r>
            <a:endParaRPr dirty="0" sz="950" lang="en-US"/>
          </a:p>
        </p:txBody>
      </p:sp>
      <p:sp>
        <p:nvSpPr>
          <p:cNvPr id="1048734" name="Shape 15"/>
          <p:cNvSpPr/>
          <p:nvPr/>
        </p:nvSpPr>
        <p:spPr>
          <a:xfrm>
            <a:off x="2286000" y="1802951"/>
            <a:ext cx="2423160" cy="402336"/>
          </a:xfrm>
          <a:prstGeom prst="rect"/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8735" name="Text 16"/>
          <p:cNvSpPr/>
          <p:nvPr/>
        </p:nvSpPr>
        <p:spPr>
          <a:xfrm>
            <a:off x="2359152" y="1821239"/>
            <a:ext cx="233172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50" lang="en-US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Brand, Processor, RAM, Storage, GPU, OS</a:t>
            </a:r>
            <a:endParaRPr dirty="0" sz="950" lang="en-US"/>
          </a:p>
        </p:txBody>
      </p:sp>
      <p:sp>
        <p:nvSpPr>
          <p:cNvPr id="1048736" name="Shape 17"/>
          <p:cNvSpPr/>
          <p:nvPr/>
        </p:nvSpPr>
        <p:spPr>
          <a:xfrm>
            <a:off x="4754880" y="1802951"/>
            <a:ext cx="1417320" cy="402336"/>
          </a:xfrm>
          <a:prstGeom prst="rect"/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8737" name="Text 18"/>
          <p:cNvSpPr/>
          <p:nvPr/>
        </p:nvSpPr>
        <p:spPr>
          <a:xfrm>
            <a:off x="4828032" y="1821239"/>
            <a:ext cx="132588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50" lang="en-US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885</a:t>
            </a:r>
            <a:endParaRPr dirty="0" sz="950" lang="en-US"/>
          </a:p>
        </p:txBody>
      </p:sp>
      <p:sp>
        <p:nvSpPr>
          <p:cNvPr id="1048738" name="Shape 19"/>
          <p:cNvSpPr/>
          <p:nvPr/>
        </p:nvSpPr>
        <p:spPr>
          <a:xfrm>
            <a:off x="6217920" y="1802951"/>
            <a:ext cx="1325880" cy="402336"/>
          </a:xfrm>
          <a:prstGeom prst="rect"/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8739" name="Text 20"/>
          <p:cNvSpPr/>
          <p:nvPr/>
        </p:nvSpPr>
        <p:spPr>
          <a:xfrm>
            <a:off x="6291072" y="1821239"/>
            <a:ext cx="123444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50" lang="en-US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</a:t>
            </a:r>
            <a:endParaRPr dirty="0" sz="950" lang="en-US"/>
          </a:p>
        </p:txBody>
      </p:sp>
      <p:sp>
        <p:nvSpPr>
          <p:cNvPr id="1048740" name="Shape 21"/>
          <p:cNvSpPr/>
          <p:nvPr/>
        </p:nvSpPr>
        <p:spPr>
          <a:xfrm>
            <a:off x="7589520" y="1802951"/>
            <a:ext cx="1325880" cy="402336"/>
          </a:xfrm>
          <a:prstGeom prst="rect"/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8741" name="Text 22"/>
          <p:cNvSpPr/>
          <p:nvPr/>
        </p:nvSpPr>
        <p:spPr>
          <a:xfrm>
            <a:off x="7662672" y="1821239"/>
            <a:ext cx="123444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Used</a:t>
            </a:r>
            <a:endParaRPr dirty="0" sz="1000" lang="en-US"/>
          </a:p>
        </p:txBody>
      </p:sp>
      <p:sp>
        <p:nvSpPr>
          <p:cNvPr id="1048742" name="Shape 23"/>
          <p:cNvSpPr/>
          <p:nvPr/>
        </p:nvSpPr>
        <p:spPr>
          <a:xfrm>
            <a:off x="320040" y="2241863"/>
            <a:ext cx="1920240" cy="402336"/>
          </a:xfrm>
          <a:prstGeom prst="rect"/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8743" name="Text 24"/>
          <p:cNvSpPr/>
          <p:nvPr/>
        </p:nvSpPr>
        <p:spPr>
          <a:xfrm>
            <a:off x="393192" y="2260151"/>
            <a:ext cx="182880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50" lang="en-US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ds02 — laptop_price02</a:t>
            </a:r>
            <a:endParaRPr dirty="0" sz="950" lang="en-US"/>
          </a:p>
        </p:txBody>
      </p:sp>
      <p:sp>
        <p:nvSpPr>
          <p:cNvPr id="1048744" name="Shape 25"/>
          <p:cNvSpPr/>
          <p:nvPr/>
        </p:nvSpPr>
        <p:spPr>
          <a:xfrm>
            <a:off x="2286000" y="2241863"/>
            <a:ext cx="2423160" cy="402336"/>
          </a:xfrm>
          <a:prstGeom prst="rect"/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8745" name="Text 26"/>
          <p:cNvSpPr/>
          <p:nvPr/>
        </p:nvSpPr>
        <p:spPr>
          <a:xfrm>
            <a:off x="2359152" y="2260151"/>
            <a:ext cx="233172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50" lang="en-US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Brand, Processor, RAM, Storage, GPU, OS, Price</a:t>
            </a:r>
            <a:endParaRPr dirty="0" sz="950" lang="en-US"/>
          </a:p>
        </p:txBody>
      </p:sp>
      <p:sp>
        <p:nvSpPr>
          <p:cNvPr id="1048746" name="Shape 27"/>
          <p:cNvSpPr/>
          <p:nvPr/>
        </p:nvSpPr>
        <p:spPr>
          <a:xfrm>
            <a:off x="4754880" y="2241863"/>
            <a:ext cx="1417320" cy="402336"/>
          </a:xfrm>
          <a:prstGeom prst="rect"/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8747" name="Text 28"/>
          <p:cNvSpPr/>
          <p:nvPr/>
        </p:nvSpPr>
        <p:spPr>
          <a:xfrm>
            <a:off x="4828032" y="2260151"/>
            <a:ext cx="132588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50" lang="en-US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886</a:t>
            </a:r>
            <a:endParaRPr dirty="0" sz="950" lang="en-US"/>
          </a:p>
        </p:txBody>
      </p:sp>
      <p:sp>
        <p:nvSpPr>
          <p:cNvPr id="1048748" name="Shape 29"/>
          <p:cNvSpPr/>
          <p:nvPr/>
        </p:nvSpPr>
        <p:spPr>
          <a:xfrm>
            <a:off x="6217920" y="2241863"/>
            <a:ext cx="1325880" cy="402336"/>
          </a:xfrm>
          <a:prstGeom prst="rect"/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8749" name="Text 30"/>
          <p:cNvSpPr/>
          <p:nvPr/>
        </p:nvSpPr>
        <p:spPr>
          <a:xfrm>
            <a:off x="6291072" y="2260151"/>
            <a:ext cx="123444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50" lang="en-US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</a:t>
            </a:r>
            <a:endParaRPr dirty="0" sz="950" lang="en-US"/>
          </a:p>
        </p:txBody>
      </p:sp>
      <p:sp>
        <p:nvSpPr>
          <p:cNvPr id="1048750" name="Shape 31"/>
          <p:cNvSpPr/>
          <p:nvPr/>
        </p:nvSpPr>
        <p:spPr>
          <a:xfrm>
            <a:off x="7589520" y="2241863"/>
            <a:ext cx="1325880" cy="402336"/>
          </a:xfrm>
          <a:prstGeom prst="rect"/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8751" name="Text 32"/>
          <p:cNvSpPr/>
          <p:nvPr/>
        </p:nvSpPr>
        <p:spPr>
          <a:xfrm>
            <a:off x="7662672" y="2260151"/>
            <a:ext cx="123444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Used</a:t>
            </a:r>
            <a:endParaRPr dirty="0" sz="1000" lang="en-US"/>
          </a:p>
        </p:txBody>
      </p:sp>
      <p:sp>
        <p:nvSpPr>
          <p:cNvPr id="1048752" name="Shape 33"/>
          <p:cNvSpPr/>
          <p:nvPr/>
        </p:nvSpPr>
        <p:spPr>
          <a:xfrm>
            <a:off x="320040" y="2680775"/>
            <a:ext cx="1920240" cy="402336"/>
          </a:xfrm>
          <a:prstGeom prst="rect"/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8753" name="Text 34"/>
          <p:cNvSpPr/>
          <p:nvPr/>
        </p:nvSpPr>
        <p:spPr>
          <a:xfrm>
            <a:off x="393192" y="2699063"/>
            <a:ext cx="182880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50" lang="en-US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ds03 — laptop_price03</a:t>
            </a:r>
            <a:endParaRPr dirty="0" sz="950" lang="en-US"/>
          </a:p>
        </p:txBody>
      </p:sp>
      <p:sp>
        <p:nvSpPr>
          <p:cNvPr id="1048754" name="Shape 35"/>
          <p:cNvSpPr/>
          <p:nvPr/>
        </p:nvSpPr>
        <p:spPr>
          <a:xfrm>
            <a:off x="2286000" y="2680775"/>
            <a:ext cx="2423160" cy="402336"/>
          </a:xfrm>
          <a:prstGeom prst="rect"/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8755" name="Text 36"/>
          <p:cNvSpPr/>
          <p:nvPr/>
        </p:nvSpPr>
        <p:spPr>
          <a:xfrm>
            <a:off x="2359152" y="2699063"/>
            <a:ext cx="233172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50" lang="en-US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Company, CPU, Memory, GPU, OpSys, Weight</a:t>
            </a:r>
            <a:endParaRPr dirty="0" sz="950" lang="en-US"/>
          </a:p>
        </p:txBody>
      </p:sp>
      <p:sp>
        <p:nvSpPr>
          <p:cNvPr id="1048756" name="Shape 37"/>
          <p:cNvSpPr/>
          <p:nvPr/>
        </p:nvSpPr>
        <p:spPr>
          <a:xfrm>
            <a:off x="4754880" y="2680775"/>
            <a:ext cx="1417320" cy="402336"/>
          </a:xfrm>
          <a:prstGeom prst="rect"/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8757" name="Text 38"/>
          <p:cNvSpPr/>
          <p:nvPr/>
        </p:nvSpPr>
        <p:spPr>
          <a:xfrm>
            <a:off x="4828032" y="2699063"/>
            <a:ext cx="132588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50" lang="en-US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1,270</a:t>
            </a:r>
            <a:endParaRPr dirty="0" sz="950" lang="en-US"/>
          </a:p>
        </p:txBody>
      </p:sp>
      <p:sp>
        <p:nvSpPr>
          <p:cNvPr id="1048758" name="Shape 39"/>
          <p:cNvSpPr/>
          <p:nvPr/>
        </p:nvSpPr>
        <p:spPr>
          <a:xfrm>
            <a:off x="6217920" y="2680775"/>
            <a:ext cx="1325880" cy="402336"/>
          </a:xfrm>
          <a:prstGeom prst="rect"/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8759" name="Text 40"/>
          <p:cNvSpPr/>
          <p:nvPr/>
        </p:nvSpPr>
        <p:spPr>
          <a:xfrm>
            <a:off x="6291072" y="2699063"/>
            <a:ext cx="123444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50" lang="en-US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EUR→INR</a:t>
            </a:r>
            <a:endParaRPr dirty="0" sz="950" lang="en-US"/>
          </a:p>
        </p:txBody>
      </p:sp>
      <p:sp>
        <p:nvSpPr>
          <p:cNvPr id="1048760" name="Shape 41"/>
          <p:cNvSpPr/>
          <p:nvPr/>
        </p:nvSpPr>
        <p:spPr>
          <a:xfrm>
            <a:off x="7589520" y="2680775"/>
            <a:ext cx="1325880" cy="402336"/>
          </a:xfrm>
          <a:prstGeom prst="rect"/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8761" name="Text 42"/>
          <p:cNvSpPr/>
          <p:nvPr/>
        </p:nvSpPr>
        <p:spPr>
          <a:xfrm>
            <a:off x="7662672" y="2699063"/>
            <a:ext cx="123444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Used</a:t>
            </a:r>
            <a:endParaRPr dirty="0" sz="1000" lang="en-US"/>
          </a:p>
        </p:txBody>
      </p:sp>
      <p:sp>
        <p:nvSpPr>
          <p:cNvPr id="1048762" name="Shape 43"/>
          <p:cNvSpPr/>
          <p:nvPr/>
        </p:nvSpPr>
        <p:spPr>
          <a:xfrm>
            <a:off x="320040" y="3119687"/>
            <a:ext cx="1920240" cy="402336"/>
          </a:xfrm>
          <a:prstGeom prst="rect"/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8763" name="Text 44"/>
          <p:cNvSpPr/>
          <p:nvPr/>
        </p:nvSpPr>
        <p:spPr>
          <a:xfrm>
            <a:off x="393192" y="3137975"/>
            <a:ext cx="182880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50" lang="en-US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ds04 — laptop_price04</a:t>
            </a:r>
            <a:endParaRPr dirty="0" sz="950" lang="en-US"/>
          </a:p>
        </p:txBody>
      </p:sp>
      <p:sp>
        <p:nvSpPr>
          <p:cNvPr id="1048764" name="Shape 45"/>
          <p:cNvSpPr/>
          <p:nvPr/>
        </p:nvSpPr>
        <p:spPr>
          <a:xfrm>
            <a:off x="2286000" y="3119687"/>
            <a:ext cx="2423160" cy="402336"/>
          </a:xfrm>
          <a:prstGeom prst="rect"/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8765" name="Text 46"/>
          <p:cNvSpPr/>
          <p:nvPr/>
        </p:nvSpPr>
        <p:spPr>
          <a:xfrm>
            <a:off x="2359152" y="3137975"/>
            <a:ext cx="233172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50" lang="en-US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Brand, Processor, RAM, Storage, GPU, OS</a:t>
            </a:r>
            <a:endParaRPr dirty="0" sz="950" lang="en-US"/>
          </a:p>
        </p:txBody>
      </p:sp>
      <p:sp>
        <p:nvSpPr>
          <p:cNvPr id="1048766" name="Shape 47"/>
          <p:cNvSpPr/>
          <p:nvPr/>
        </p:nvSpPr>
        <p:spPr>
          <a:xfrm>
            <a:off x="4754880" y="3119687"/>
            <a:ext cx="1417320" cy="402336"/>
          </a:xfrm>
          <a:prstGeom prst="rect"/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8767" name="Text 48"/>
          <p:cNvSpPr/>
          <p:nvPr/>
        </p:nvSpPr>
        <p:spPr>
          <a:xfrm>
            <a:off x="4828032" y="3137975"/>
            <a:ext cx="132588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50" lang="en-US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1,013</a:t>
            </a:r>
            <a:endParaRPr dirty="0" sz="950" lang="en-US"/>
          </a:p>
        </p:txBody>
      </p:sp>
      <p:sp>
        <p:nvSpPr>
          <p:cNvPr id="1048768" name="Shape 49"/>
          <p:cNvSpPr/>
          <p:nvPr/>
        </p:nvSpPr>
        <p:spPr>
          <a:xfrm>
            <a:off x="6217920" y="3119687"/>
            <a:ext cx="1325880" cy="402336"/>
          </a:xfrm>
          <a:prstGeom prst="rect"/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8769" name="Text 50"/>
          <p:cNvSpPr/>
          <p:nvPr/>
        </p:nvSpPr>
        <p:spPr>
          <a:xfrm>
            <a:off x="6291072" y="3137975"/>
            <a:ext cx="123444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50" lang="en-US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</a:t>
            </a:r>
            <a:endParaRPr dirty="0" sz="950" lang="en-US"/>
          </a:p>
        </p:txBody>
      </p:sp>
      <p:sp>
        <p:nvSpPr>
          <p:cNvPr id="1048770" name="Shape 51"/>
          <p:cNvSpPr/>
          <p:nvPr/>
        </p:nvSpPr>
        <p:spPr>
          <a:xfrm>
            <a:off x="7589520" y="3119687"/>
            <a:ext cx="1325880" cy="402336"/>
          </a:xfrm>
          <a:prstGeom prst="rect"/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8771" name="Text 52"/>
          <p:cNvSpPr/>
          <p:nvPr/>
        </p:nvSpPr>
        <p:spPr>
          <a:xfrm>
            <a:off x="7662672" y="3137975"/>
            <a:ext cx="123444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Used</a:t>
            </a:r>
            <a:endParaRPr dirty="0" sz="1000" lang="en-US"/>
          </a:p>
        </p:txBody>
      </p:sp>
      <p:sp>
        <p:nvSpPr>
          <p:cNvPr id="1048772" name="Shape 65"/>
          <p:cNvSpPr/>
          <p:nvPr/>
        </p:nvSpPr>
        <p:spPr>
          <a:xfrm>
            <a:off x="0" y="4796028"/>
            <a:ext cx="9144000" cy="347472"/>
          </a:xfrm>
          <a:prstGeom prst="rect"/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48773" name="Text 66"/>
          <p:cNvSpPr/>
          <p:nvPr/>
        </p:nvSpPr>
        <p:spPr>
          <a:xfrm>
            <a:off x="274320" y="4832604"/>
            <a:ext cx="859536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Price Prediction Using Machine Learning</a:t>
            </a:r>
            <a:endParaRPr dirty="0" sz="900"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7" name="Text 0"/>
          <p:cNvSpPr/>
          <p:nvPr/>
        </p:nvSpPr>
        <p:spPr>
          <a:xfrm>
            <a:off x="365760" y="164592"/>
            <a:ext cx="8412480" cy="475488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b="1" dirty="0" sz="2800" lang="en-US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Pipeline</a:t>
            </a:r>
            <a:endParaRPr dirty="0" sz="2800" lang="en-US"/>
          </a:p>
        </p:txBody>
      </p:sp>
      <p:sp>
        <p:nvSpPr>
          <p:cNvPr id="1048778" name="Shape 1"/>
          <p:cNvSpPr/>
          <p:nvPr/>
        </p:nvSpPr>
        <p:spPr>
          <a:xfrm>
            <a:off x="365760" y="658368"/>
            <a:ext cx="914400" cy="41148"/>
          </a:xfrm>
          <a:prstGeom prst="rect"/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48779" name="Text 2"/>
          <p:cNvSpPr/>
          <p:nvPr/>
        </p:nvSpPr>
        <p:spPr>
          <a:xfrm>
            <a:off x="365760" y="804672"/>
            <a:ext cx="8412480" cy="29260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200" lang="en-US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dataset cleaned independently before merging — ETL approach: Extract → Transform → Load.</a:t>
            </a:r>
            <a:endParaRPr dirty="0" sz="1200" lang="en-US"/>
          </a:p>
        </p:txBody>
      </p:sp>
      <p:sp>
        <p:nvSpPr>
          <p:cNvPr id="1048780" name="Shape 3"/>
          <p:cNvSpPr/>
          <p:nvPr/>
        </p:nvSpPr>
        <p:spPr>
          <a:xfrm>
            <a:off x="274320" y="1234440"/>
            <a:ext cx="2788920" cy="32461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effectLst>
            <a:outerShdw algn="bl" blurRad="101600" dir="2700000" dist="25400" rotWithShape="0">
              <a:srgbClr val="000000">
                <a:alpha val="9000"/>
              </a:srgbClr>
            </a:outerShdw>
          </a:effectLst>
        </p:spPr>
      </p:sp>
      <p:sp>
        <p:nvSpPr>
          <p:cNvPr id="1048781" name="Text 5"/>
          <p:cNvSpPr/>
          <p:nvPr/>
        </p:nvSpPr>
        <p:spPr>
          <a:xfrm>
            <a:off x="320040" y="1517904"/>
            <a:ext cx="2606040" cy="38404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lang="en-US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Per-Source Cleaning</a:t>
            </a:r>
            <a:endParaRPr dirty="0" lang="en-US"/>
          </a:p>
        </p:txBody>
      </p:sp>
      <p:sp>
        <p:nvSpPr>
          <p:cNvPr id="1048782" name="Text 6"/>
          <p:cNvSpPr/>
          <p:nvPr/>
        </p:nvSpPr>
        <p:spPr>
          <a:xfrm>
            <a:off x="411480" y="2304288"/>
            <a:ext cx="2514600" cy="2011680"/>
          </a:xfrm>
          <a:prstGeom prst="rect"/>
          <a:noFill/>
        </p:spPr>
        <p:txBody>
          <a:bodyPr anchor="ctr" bIns="0" lIns="0" rIns="0" rtlCol="0" tIns="0" wrap="square"/>
          <a:p>
            <a:pPr indent="-342900" marL="342900">
              <a:spcAft>
                <a:spcPts val="500"/>
              </a:spcAft>
              <a:buSzPct val="100000"/>
              <a:buChar char="•"/>
            </a:pPr>
            <a:r>
              <a:rPr dirty="0" sz="1300" lang="en-US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encoding artifacts (Unicode â, superscript ᵉ)</a:t>
            </a:r>
            <a:endParaRPr dirty="0" sz="1300" lang="en-US"/>
          </a:p>
          <a:p>
            <a:pPr indent="-342900" marL="342900">
              <a:spcAft>
                <a:spcPts val="500"/>
              </a:spcAft>
              <a:buSzPct val="100000"/>
              <a:buChar char="•"/>
            </a:pPr>
            <a:r>
              <a:rPr dirty="0" sz="1300" lang="en-US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numeric RAM/Storage from strings ('8GB DDR4' → 8)</a:t>
            </a:r>
            <a:endParaRPr dirty="0" sz="1300" lang="en-US"/>
          </a:p>
          <a:p>
            <a:pPr indent="-342900" marL="342900">
              <a:spcAft>
                <a:spcPts val="500"/>
              </a:spcAft>
              <a:buSzPct val="100000"/>
              <a:buChar char="•"/>
            </a:pPr>
            <a:r>
              <a:rPr dirty="0" sz="1300" lang="en-US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OS into 8 clean categories</a:t>
            </a:r>
            <a:endParaRPr dirty="0" sz="1300" lang="en-US"/>
          </a:p>
        </p:txBody>
      </p:sp>
      <p:sp>
        <p:nvSpPr>
          <p:cNvPr id="1048783" name="Shape 7"/>
          <p:cNvSpPr/>
          <p:nvPr/>
        </p:nvSpPr>
        <p:spPr>
          <a:xfrm>
            <a:off x="3200400" y="1234440"/>
            <a:ext cx="2788920" cy="32461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effectLst>
            <a:outerShdw algn="bl" blurRad="101600" dir="2700000" dist="25400" rotWithShape="0">
              <a:srgbClr val="000000">
                <a:alpha val="9000"/>
              </a:srgbClr>
            </a:outerShdw>
          </a:effectLst>
        </p:spPr>
      </p:sp>
      <p:sp>
        <p:nvSpPr>
          <p:cNvPr id="1048784" name="Text 9"/>
          <p:cNvSpPr/>
          <p:nvPr/>
        </p:nvSpPr>
        <p:spPr>
          <a:xfrm>
            <a:off x="3200400" y="1514387"/>
            <a:ext cx="2606040" cy="38404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lang="en-US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Fixes</a:t>
            </a:r>
            <a:endParaRPr dirty="0" lang="en-US"/>
          </a:p>
        </p:txBody>
      </p:sp>
      <p:sp>
        <p:nvSpPr>
          <p:cNvPr id="1048785" name="Text 10"/>
          <p:cNvSpPr/>
          <p:nvPr/>
        </p:nvSpPr>
        <p:spPr>
          <a:xfrm>
            <a:off x="3337560" y="2304288"/>
            <a:ext cx="2514600" cy="2011680"/>
          </a:xfrm>
          <a:prstGeom prst="rect"/>
          <a:noFill/>
        </p:spPr>
        <p:txBody>
          <a:bodyPr anchor="ctr" bIns="0" lIns="0" rIns="0" rtlCol="0" tIns="0" wrap="square"/>
          <a:p>
            <a:pPr indent="-342900" marL="342900">
              <a:spcAft>
                <a:spcPts val="500"/>
              </a:spcAft>
              <a:buSzPct val="100000"/>
              <a:buChar char="•"/>
            </a:pPr>
            <a:r>
              <a:rPr dirty="0" sz="1300" lang="en-US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23 corrupt rows (data-shift in storage/OS columns)</a:t>
            </a:r>
            <a:endParaRPr dirty="0" sz="1300" lang="en-US"/>
          </a:p>
          <a:p>
            <a:pPr indent="-342900" marL="342900">
              <a:spcAft>
                <a:spcPts val="500"/>
              </a:spcAft>
              <a:buSzPct val="100000"/>
              <a:buChar char="•"/>
            </a:pPr>
            <a:r>
              <a:rPr dirty="0" sz="1300" lang="en-US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DDR6 → DDR5 (non-existent standard)</a:t>
            </a:r>
            <a:endParaRPr dirty="0" sz="1300" lang="en-US"/>
          </a:p>
          <a:p>
            <a:pPr indent="-342900" marL="342900">
              <a:spcAft>
                <a:spcPts val="500"/>
              </a:spcAft>
              <a:buSzPct val="100000"/>
              <a:buChar char="•"/>
            </a:pPr>
            <a:r>
              <a:rPr dirty="0" sz="1300" lang="en-US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1000 GB → 1024 GB TB notation</a:t>
            </a:r>
            <a:endParaRPr dirty="0" sz="1300" lang="en-US"/>
          </a:p>
        </p:txBody>
      </p:sp>
      <p:sp>
        <p:nvSpPr>
          <p:cNvPr id="1048786" name="Shape 11"/>
          <p:cNvSpPr/>
          <p:nvPr/>
        </p:nvSpPr>
        <p:spPr>
          <a:xfrm>
            <a:off x="6126480" y="1234440"/>
            <a:ext cx="2788920" cy="32461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effectLst>
            <a:outerShdw algn="bl" blurRad="101600" dir="2700000" dist="25400" rotWithShape="0">
              <a:srgbClr val="000000">
                <a:alpha val="9000"/>
              </a:srgbClr>
            </a:outerShdw>
          </a:effectLst>
        </p:spPr>
      </p:sp>
      <p:sp>
        <p:nvSpPr>
          <p:cNvPr id="1048787" name="Text 13"/>
          <p:cNvSpPr/>
          <p:nvPr/>
        </p:nvSpPr>
        <p:spPr>
          <a:xfrm>
            <a:off x="6172200" y="1517904"/>
            <a:ext cx="2606040" cy="38404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lang="en-US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 Merge</a:t>
            </a:r>
            <a:endParaRPr dirty="0" lang="en-US"/>
          </a:p>
        </p:txBody>
      </p:sp>
      <p:sp>
        <p:nvSpPr>
          <p:cNvPr id="1048788" name="Text 14"/>
          <p:cNvSpPr/>
          <p:nvPr/>
        </p:nvSpPr>
        <p:spPr>
          <a:xfrm>
            <a:off x="6263640" y="2304288"/>
            <a:ext cx="2514600" cy="2011680"/>
          </a:xfrm>
          <a:prstGeom prst="rect"/>
          <a:noFill/>
        </p:spPr>
        <p:txBody>
          <a:bodyPr anchor="ctr" bIns="0" lIns="0" rIns="0" rtlCol="0" tIns="0" wrap="square"/>
          <a:p>
            <a:pPr indent="-342900" marL="342900">
              <a:spcAft>
                <a:spcPts val="500"/>
              </a:spcAft>
              <a:buSzPct val="100000"/>
              <a:buChar char="•"/>
            </a:pPr>
            <a:r>
              <a:rPr dirty="0" sz="1300" lang="en-US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4 different schemas to 9 common columns</a:t>
            </a:r>
            <a:endParaRPr dirty="0" sz="1300" lang="en-US"/>
          </a:p>
          <a:p>
            <a:pPr indent="-342900" marL="342900">
              <a:spcAft>
                <a:spcPts val="500"/>
              </a:spcAft>
              <a:buSzPct val="100000"/>
              <a:buChar char="•"/>
            </a:pPr>
            <a:r>
              <a:rPr dirty="0" sz="1300" lang="en-US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 → INR currency conversion (ds03)</a:t>
            </a:r>
            <a:endParaRPr dirty="0" sz="1300" lang="en-US"/>
          </a:p>
          <a:p>
            <a:pPr indent="-342900" marL="342900">
              <a:spcAft>
                <a:spcPts val="500"/>
              </a:spcAft>
              <a:buSzPct val="100000"/>
              <a:buChar char="•"/>
            </a:pPr>
            <a:r>
              <a:rPr dirty="0" sz="1300" lang="en-US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135 exact duplicates post-concat</a:t>
            </a:r>
            <a:endParaRPr dirty="0" sz="1300" lang="en-US"/>
          </a:p>
        </p:txBody>
      </p:sp>
      <p:sp>
        <p:nvSpPr>
          <p:cNvPr id="1048789" name="Shape 15"/>
          <p:cNvSpPr/>
          <p:nvPr/>
        </p:nvSpPr>
        <p:spPr>
          <a:xfrm>
            <a:off x="0" y="4796028"/>
            <a:ext cx="9144000" cy="347472"/>
          </a:xfrm>
          <a:prstGeom prst="rect"/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48790" name="Text 16"/>
          <p:cNvSpPr/>
          <p:nvPr/>
        </p:nvSpPr>
        <p:spPr>
          <a:xfrm>
            <a:off x="274320" y="4832604"/>
            <a:ext cx="859536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Price Prediction Using Machine Learning</a:t>
            </a:r>
            <a:endParaRPr dirty="0" sz="900"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4" name="Text 0"/>
          <p:cNvSpPr/>
          <p:nvPr/>
        </p:nvSpPr>
        <p:spPr>
          <a:xfrm>
            <a:off x="365760" y="164592"/>
            <a:ext cx="8412480" cy="475488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b="1" dirty="0" sz="2800" lang="en-US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 Dataset — Final State</a:t>
            </a:r>
            <a:endParaRPr dirty="0" sz="2800" lang="en-US"/>
          </a:p>
        </p:txBody>
      </p:sp>
      <p:sp>
        <p:nvSpPr>
          <p:cNvPr id="1048795" name="Shape 1"/>
          <p:cNvSpPr/>
          <p:nvPr/>
        </p:nvSpPr>
        <p:spPr>
          <a:xfrm>
            <a:off x="365760" y="658368"/>
            <a:ext cx="914400" cy="41148"/>
          </a:xfrm>
          <a:prstGeom prst="rect"/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48796" name="Shape 2"/>
          <p:cNvSpPr/>
          <p:nvPr/>
        </p:nvSpPr>
        <p:spPr>
          <a:xfrm>
            <a:off x="274320" y="822960"/>
            <a:ext cx="157276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effectLst>
            <a:outerShdw algn="bl" blurRad="101600" dir="2700000" dist="25400" rotWithShape="0">
              <a:srgbClr val="000000">
                <a:alpha val="10000"/>
              </a:srgbClr>
            </a:outerShdw>
          </a:effectLst>
        </p:spPr>
      </p:sp>
      <p:sp>
        <p:nvSpPr>
          <p:cNvPr id="1048797" name="Text 3"/>
          <p:cNvSpPr/>
          <p:nvPr/>
        </p:nvSpPr>
        <p:spPr>
          <a:xfrm>
            <a:off x="365760" y="914400"/>
            <a:ext cx="1389888" cy="678942"/>
          </a:xfrm>
          <a:prstGeom prst="rect"/>
          <a:noFill/>
        </p:spPr>
        <p:txBody>
          <a:bodyPr anchor="b" bIns="0" lIns="0" rIns="0" rtlCol="0" tIns="0" wrap="square"/>
          <a:p>
            <a:pPr algn="ctr" indent="0" marL="0">
              <a:buNone/>
            </a:pPr>
            <a:r>
              <a:rPr b="1" dirty="0" sz="2800" lang="en-US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3,918</a:t>
            </a:r>
            <a:endParaRPr dirty="0" sz="2800" lang="en-US"/>
          </a:p>
        </p:txBody>
      </p:sp>
      <p:sp>
        <p:nvSpPr>
          <p:cNvPr id="1048798" name="Text 4"/>
          <p:cNvSpPr/>
          <p:nvPr/>
        </p:nvSpPr>
        <p:spPr>
          <a:xfrm>
            <a:off x="365760" y="1538935"/>
            <a:ext cx="1389888" cy="469087"/>
          </a:xfrm>
          <a:prstGeom prst="rect"/>
          <a:noFill/>
        </p:spPr>
        <p:txBody>
          <a:bodyPr anchor="t" bIns="0" lIns="0" rIns="0" rtlCol="0" tIns="0" wrap="square"/>
          <a:p>
            <a:pPr algn="ctr" indent="0" marL="0">
              <a:buNone/>
            </a:pPr>
            <a:r>
              <a:rPr dirty="0" sz="1000" lang="en-US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Rows</a:t>
            </a:r>
            <a:endParaRPr dirty="0" sz="1000" lang="en-US"/>
          </a:p>
        </p:txBody>
      </p:sp>
      <p:sp>
        <p:nvSpPr>
          <p:cNvPr id="1048799" name="Shape 5"/>
          <p:cNvSpPr/>
          <p:nvPr/>
        </p:nvSpPr>
        <p:spPr>
          <a:xfrm>
            <a:off x="2011680" y="822960"/>
            <a:ext cx="157276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effectLst>
            <a:outerShdw algn="bl" blurRad="101600" dir="2700000" dist="25400" rotWithShape="0">
              <a:srgbClr val="000000">
                <a:alpha val="10000"/>
              </a:srgbClr>
            </a:outerShdw>
          </a:effectLst>
        </p:spPr>
      </p:sp>
      <p:sp>
        <p:nvSpPr>
          <p:cNvPr id="1048800" name="Text 6"/>
          <p:cNvSpPr/>
          <p:nvPr/>
        </p:nvSpPr>
        <p:spPr>
          <a:xfrm>
            <a:off x="2103120" y="914400"/>
            <a:ext cx="1389888" cy="678942"/>
          </a:xfrm>
          <a:prstGeom prst="rect"/>
          <a:noFill/>
        </p:spPr>
        <p:txBody>
          <a:bodyPr anchor="b" bIns="0" lIns="0" rIns="0" rtlCol="0" tIns="0" wrap="square"/>
          <a:p>
            <a:pPr algn="ctr" indent="0" marL="0">
              <a:buNone/>
            </a:pPr>
            <a:r>
              <a:rPr b="1" dirty="0" sz="2800" lang="en-US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dirty="0" sz="2800" lang="en-US"/>
          </a:p>
        </p:txBody>
      </p:sp>
      <p:sp>
        <p:nvSpPr>
          <p:cNvPr id="1048801" name="Text 7"/>
          <p:cNvSpPr/>
          <p:nvPr/>
        </p:nvSpPr>
        <p:spPr>
          <a:xfrm>
            <a:off x="2103120" y="1538935"/>
            <a:ext cx="1389888" cy="469087"/>
          </a:xfrm>
          <a:prstGeom prst="rect"/>
          <a:noFill/>
        </p:spPr>
        <p:txBody>
          <a:bodyPr anchor="t" bIns="0" lIns="0" rIns="0" rtlCol="0" tIns="0" wrap="square"/>
          <a:p>
            <a:pPr algn="ctr" indent="0" marL="0">
              <a:buNone/>
            </a:pPr>
            <a:r>
              <a:rPr dirty="0" sz="1000" lang="en-US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dirty="0" sz="1000" lang="en-US"/>
          </a:p>
        </p:txBody>
      </p:sp>
      <p:sp>
        <p:nvSpPr>
          <p:cNvPr id="1048802" name="Shape 8"/>
          <p:cNvSpPr/>
          <p:nvPr/>
        </p:nvSpPr>
        <p:spPr>
          <a:xfrm>
            <a:off x="3749040" y="822960"/>
            <a:ext cx="157276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effectLst>
            <a:outerShdw algn="bl" blurRad="101600" dir="2700000" dist="25400" rotWithShape="0">
              <a:srgbClr val="000000">
                <a:alpha val="10000"/>
              </a:srgbClr>
            </a:outerShdw>
          </a:effectLst>
        </p:spPr>
      </p:sp>
      <p:sp>
        <p:nvSpPr>
          <p:cNvPr id="1048803" name="Text 9"/>
          <p:cNvSpPr/>
          <p:nvPr/>
        </p:nvSpPr>
        <p:spPr>
          <a:xfrm>
            <a:off x="3840480" y="914400"/>
            <a:ext cx="1389888" cy="678942"/>
          </a:xfrm>
          <a:prstGeom prst="rect"/>
          <a:noFill/>
        </p:spPr>
        <p:txBody>
          <a:bodyPr anchor="b" bIns="0" lIns="0" rIns="0" rtlCol="0" tIns="0" wrap="square"/>
          <a:p>
            <a:pPr algn="ctr" indent="0" marL="0">
              <a:buNone/>
            </a:pPr>
            <a:r>
              <a:rPr b="1" dirty="0" sz="2800" lang="en-US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dirty="0" sz="2800" lang="en-US"/>
          </a:p>
        </p:txBody>
      </p:sp>
      <p:sp>
        <p:nvSpPr>
          <p:cNvPr id="1048804" name="Text 10"/>
          <p:cNvSpPr/>
          <p:nvPr/>
        </p:nvSpPr>
        <p:spPr>
          <a:xfrm>
            <a:off x="3840480" y="1538935"/>
            <a:ext cx="1389888" cy="469087"/>
          </a:xfrm>
          <a:prstGeom prst="rect"/>
          <a:noFill/>
        </p:spPr>
        <p:txBody>
          <a:bodyPr anchor="t" bIns="0" lIns="0" rIns="0" rtlCol="0" tIns="0" wrap="square"/>
          <a:p>
            <a:pPr algn="ctr" indent="0" marL="0">
              <a:buNone/>
            </a:pPr>
            <a:r>
              <a:rPr dirty="0" sz="1000" lang="en-US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Merged</a:t>
            </a:r>
            <a:endParaRPr dirty="0" sz="1000" lang="en-US"/>
          </a:p>
        </p:txBody>
      </p:sp>
      <p:sp>
        <p:nvSpPr>
          <p:cNvPr id="1048805" name="Shape 11"/>
          <p:cNvSpPr/>
          <p:nvPr/>
        </p:nvSpPr>
        <p:spPr>
          <a:xfrm>
            <a:off x="5486400" y="822960"/>
            <a:ext cx="157276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effectLst>
            <a:outerShdw algn="bl" blurRad="101600" dir="2700000" dist="25400" rotWithShape="0">
              <a:srgbClr val="000000">
                <a:alpha val="10000"/>
              </a:srgbClr>
            </a:outerShdw>
          </a:effectLst>
        </p:spPr>
      </p:sp>
      <p:sp>
        <p:nvSpPr>
          <p:cNvPr id="1048806" name="Text 12"/>
          <p:cNvSpPr/>
          <p:nvPr/>
        </p:nvSpPr>
        <p:spPr>
          <a:xfrm>
            <a:off x="5577840" y="914400"/>
            <a:ext cx="1389888" cy="678942"/>
          </a:xfrm>
          <a:prstGeom prst="rect"/>
          <a:noFill/>
        </p:spPr>
        <p:txBody>
          <a:bodyPr anchor="b" bIns="0" lIns="0" rIns="0" rtlCol="0" tIns="0" wrap="square"/>
          <a:p>
            <a:pPr algn="ctr" indent="0" marL="0">
              <a:buNone/>
            </a:pPr>
            <a:r>
              <a:rPr b="1" dirty="0" sz="2800" lang="en-US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135</a:t>
            </a:r>
            <a:endParaRPr dirty="0" sz="2800" lang="en-US"/>
          </a:p>
        </p:txBody>
      </p:sp>
      <p:sp>
        <p:nvSpPr>
          <p:cNvPr id="1048807" name="Text 13"/>
          <p:cNvSpPr/>
          <p:nvPr/>
        </p:nvSpPr>
        <p:spPr>
          <a:xfrm>
            <a:off x="5577840" y="1538935"/>
            <a:ext cx="1389888" cy="469087"/>
          </a:xfrm>
          <a:prstGeom prst="rect"/>
          <a:noFill/>
        </p:spPr>
        <p:txBody>
          <a:bodyPr anchor="t" bIns="0" lIns="0" rIns="0" rtlCol="0" tIns="0" wrap="square"/>
          <a:p>
            <a:pPr algn="ctr" indent="0" marL="0">
              <a:buNone/>
            </a:pPr>
            <a:r>
              <a:rPr dirty="0" sz="1000" lang="en-US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Removed</a:t>
            </a:r>
            <a:endParaRPr dirty="0" sz="1000" lang="en-US"/>
          </a:p>
        </p:txBody>
      </p:sp>
      <p:sp>
        <p:nvSpPr>
          <p:cNvPr id="1048808" name="Shape 14"/>
          <p:cNvSpPr/>
          <p:nvPr/>
        </p:nvSpPr>
        <p:spPr>
          <a:xfrm>
            <a:off x="7223760" y="822960"/>
            <a:ext cx="157276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effectLst>
            <a:outerShdw algn="bl" blurRad="101600" dir="2700000" dist="25400" rotWithShape="0">
              <a:srgbClr val="000000">
                <a:alpha val="10000"/>
              </a:srgbClr>
            </a:outerShdw>
          </a:effectLst>
        </p:spPr>
      </p:sp>
      <p:sp>
        <p:nvSpPr>
          <p:cNvPr id="1048809" name="Text 15"/>
          <p:cNvSpPr/>
          <p:nvPr/>
        </p:nvSpPr>
        <p:spPr>
          <a:xfrm>
            <a:off x="7315200" y="914400"/>
            <a:ext cx="1389888" cy="678942"/>
          </a:xfrm>
          <a:prstGeom prst="rect"/>
          <a:noFill/>
        </p:spPr>
        <p:txBody>
          <a:bodyPr anchor="b" bIns="0" lIns="0" rIns="0" rtlCol="0" tIns="0" wrap="square"/>
          <a:p>
            <a:pPr algn="ctr" indent="0" marL="0">
              <a:buNone/>
            </a:pPr>
            <a:r>
              <a:rPr b="1" dirty="0" sz="2800" lang="en-US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dirty="0" sz="2800" lang="en-US"/>
          </a:p>
        </p:txBody>
      </p:sp>
      <p:sp>
        <p:nvSpPr>
          <p:cNvPr id="1048810" name="Text 16"/>
          <p:cNvSpPr/>
          <p:nvPr/>
        </p:nvSpPr>
        <p:spPr>
          <a:xfrm>
            <a:off x="7315200" y="1538935"/>
            <a:ext cx="1389888" cy="469087"/>
          </a:xfrm>
          <a:prstGeom prst="rect"/>
          <a:noFill/>
        </p:spPr>
        <p:txBody>
          <a:bodyPr anchor="t" bIns="0" lIns="0" rIns="0" rtlCol="0" tIns="0" wrap="square"/>
          <a:p>
            <a:pPr algn="ctr" indent="0" marL="0">
              <a:buNone/>
            </a:pPr>
            <a:r>
              <a:rPr dirty="0" sz="1000" lang="en-US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Values</a:t>
            </a:r>
            <a:endParaRPr dirty="0" sz="1000" lang="en-US"/>
          </a:p>
        </p:txBody>
      </p:sp>
      <p:sp>
        <p:nvSpPr>
          <p:cNvPr id="1048811" name="Text 17"/>
          <p:cNvSpPr/>
          <p:nvPr/>
        </p:nvSpPr>
        <p:spPr>
          <a:xfrm>
            <a:off x="365760" y="2212848"/>
            <a:ext cx="3657600" cy="29260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500" lang="en-US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Schema</a:t>
            </a:r>
            <a:endParaRPr dirty="0" sz="1500" lang="en-US"/>
          </a:p>
        </p:txBody>
      </p:sp>
      <p:sp>
        <p:nvSpPr>
          <p:cNvPr id="1048812" name="Shape 18"/>
          <p:cNvSpPr/>
          <p:nvPr/>
        </p:nvSpPr>
        <p:spPr>
          <a:xfrm>
            <a:off x="320040" y="2578608"/>
            <a:ext cx="1828800" cy="219456"/>
          </a:xfrm>
          <a:prstGeom prst="rect"/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8813" name="Text 19"/>
          <p:cNvSpPr/>
          <p:nvPr/>
        </p:nvSpPr>
        <p:spPr>
          <a:xfrm>
            <a:off x="374904" y="2587752"/>
            <a:ext cx="1737360" cy="20116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900" lang="en-US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dirty="0" sz="900" lang="en-US"/>
          </a:p>
        </p:txBody>
      </p:sp>
      <p:sp>
        <p:nvSpPr>
          <p:cNvPr id="1048814" name="Shape 20"/>
          <p:cNvSpPr/>
          <p:nvPr/>
        </p:nvSpPr>
        <p:spPr>
          <a:xfrm>
            <a:off x="2286000" y="2578608"/>
            <a:ext cx="1691640" cy="219456"/>
          </a:xfrm>
          <a:prstGeom prst="rect"/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8815" name="Text 21"/>
          <p:cNvSpPr/>
          <p:nvPr/>
        </p:nvSpPr>
        <p:spPr>
          <a:xfrm>
            <a:off x="2340864" y="2587752"/>
            <a:ext cx="1600200" cy="20116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dirty="0" sz="900" lang="en-US"/>
          </a:p>
        </p:txBody>
      </p:sp>
      <p:sp>
        <p:nvSpPr>
          <p:cNvPr id="1048816" name="Shape 22"/>
          <p:cNvSpPr/>
          <p:nvPr/>
        </p:nvSpPr>
        <p:spPr>
          <a:xfrm>
            <a:off x="4114800" y="2578608"/>
            <a:ext cx="4526280" cy="219456"/>
          </a:xfrm>
          <a:prstGeom prst="rect"/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8817" name="Text 23"/>
          <p:cNvSpPr/>
          <p:nvPr/>
        </p:nvSpPr>
        <p:spPr>
          <a:xfrm>
            <a:off x="4169664" y="2587752"/>
            <a:ext cx="4434840" cy="20116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manufacturer</a:t>
            </a:r>
            <a:endParaRPr dirty="0" sz="900" lang="en-US"/>
          </a:p>
        </p:txBody>
      </p:sp>
      <p:sp>
        <p:nvSpPr>
          <p:cNvPr id="1048818" name="Shape 24"/>
          <p:cNvSpPr/>
          <p:nvPr/>
        </p:nvSpPr>
        <p:spPr>
          <a:xfrm>
            <a:off x="320040" y="2816352"/>
            <a:ext cx="1828800" cy="219456"/>
          </a:xfrm>
          <a:prstGeom prst="rect"/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8819" name="Text 25"/>
          <p:cNvSpPr/>
          <p:nvPr/>
        </p:nvSpPr>
        <p:spPr>
          <a:xfrm>
            <a:off x="374904" y="2825496"/>
            <a:ext cx="1737360" cy="20116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900" lang="en-US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</a:t>
            </a:r>
            <a:endParaRPr dirty="0" sz="900" lang="en-US"/>
          </a:p>
        </p:txBody>
      </p:sp>
      <p:sp>
        <p:nvSpPr>
          <p:cNvPr id="1048820" name="Shape 26"/>
          <p:cNvSpPr/>
          <p:nvPr/>
        </p:nvSpPr>
        <p:spPr>
          <a:xfrm>
            <a:off x="2286000" y="2816352"/>
            <a:ext cx="1691640" cy="219456"/>
          </a:xfrm>
          <a:prstGeom prst="rect"/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8821" name="Text 27"/>
          <p:cNvSpPr/>
          <p:nvPr/>
        </p:nvSpPr>
        <p:spPr>
          <a:xfrm>
            <a:off x="2340864" y="2825496"/>
            <a:ext cx="1600200" cy="20116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→ extracted</a:t>
            </a:r>
            <a:endParaRPr dirty="0" sz="900" lang="en-US"/>
          </a:p>
        </p:txBody>
      </p:sp>
      <p:sp>
        <p:nvSpPr>
          <p:cNvPr id="1048822" name="Shape 28"/>
          <p:cNvSpPr/>
          <p:nvPr/>
        </p:nvSpPr>
        <p:spPr>
          <a:xfrm>
            <a:off x="4114800" y="2816352"/>
            <a:ext cx="4526280" cy="219456"/>
          </a:xfrm>
          <a:prstGeom prst="rect"/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8823" name="Text 29"/>
          <p:cNvSpPr/>
          <p:nvPr/>
        </p:nvSpPr>
        <p:spPr>
          <a:xfrm>
            <a:off x="4169664" y="2825496"/>
            <a:ext cx="4434840" cy="20116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CPU string</a:t>
            </a:r>
            <a:endParaRPr dirty="0" sz="900" lang="en-US"/>
          </a:p>
        </p:txBody>
      </p:sp>
      <p:sp>
        <p:nvSpPr>
          <p:cNvPr id="1048824" name="Shape 30"/>
          <p:cNvSpPr/>
          <p:nvPr/>
        </p:nvSpPr>
        <p:spPr>
          <a:xfrm>
            <a:off x="320040" y="3054096"/>
            <a:ext cx="1828800" cy="219456"/>
          </a:xfrm>
          <a:prstGeom prst="rect"/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8825" name="Text 31"/>
          <p:cNvSpPr/>
          <p:nvPr/>
        </p:nvSpPr>
        <p:spPr>
          <a:xfrm>
            <a:off x="374904" y="3063240"/>
            <a:ext cx="1737360" cy="20116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900" lang="en-US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</a:t>
            </a:r>
            <a:endParaRPr dirty="0" sz="900" lang="en-US"/>
          </a:p>
        </p:txBody>
      </p:sp>
      <p:sp>
        <p:nvSpPr>
          <p:cNvPr id="1048826" name="Shape 32"/>
          <p:cNvSpPr/>
          <p:nvPr/>
        </p:nvSpPr>
        <p:spPr>
          <a:xfrm>
            <a:off x="2286000" y="3054096"/>
            <a:ext cx="1691640" cy="219456"/>
          </a:xfrm>
          <a:prstGeom prst="rect"/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8827" name="Text 33"/>
          <p:cNvSpPr/>
          <p:nvPr/>
        </p:nvSpPr>
        <p:spPr>
          <a:xfrm>
            <a:off x="2340864" y="3063240"/>
            <a:ext cx="1600200" cy="20116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→ extracted</a:t>
            </a:r>
            <a:endParaRPr dirty="0" sz="900" lang="en-US"/>
          </a:p>
        </p:txBody>
      </p:sp>
      <p:sp>
        <p:nvSpPr>
          <p:cNvPr id="1048828" name="Shape 34"/>
          <p:cNvSpPr/>
          <p:nvPr/>
        </p:nvSpPr>
        <p:spPr>
          <a:xfrm>
            <a:off x="4114800" y="3054096"/>
            <a:ext cx="4526280" cy="219456"/>
          </a:xfrm>
          <a:prstGeom prst="rect"/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8829" name="Text 35"/>
          <p:cNvSpPr/>
          <p:nvPr/>
        </p:nvSpPr>
        <p:spPr>
          <a:xfrm>
            <a:off x="4169664" y="3063240"/>
            <a:ext cx="4434840" cy="20116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GPU string</a:t>
            </a:r>
            <a:endParaRPr dirty="0" sz="900" lang="en-US"/>
          </a:p>
        </p:txBody>
      </p:sp>
      <p:sp>
        <p:nvSpPr>
          <p:cNvPr id="1048830" name="Shape 36"/>
          <p:cNvSpPr/>
          <p:nvPr/>
        </p:nvSpPr>
        <p:spPr>
          <a:xfrm>
            <a:off x="320040" y="3291840"/>
            <a:ext cx="1828800" cy="219456"/>
          </a:xfrm>
          <a:prstGeom prst="rect"/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8831" name="Text 37"/>
          <p:cNvSpPr/>
          <p:nvPr/>
        </p:nvSpPr>
        <p:spPr>
          <a:xfrm>
            <a:off x="374904" y="3300984"/>
            <a:ext cx="1737360" cy="20116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900" lang="en-US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ram_gb</a:t>
            </a:r>
            <a:endParaRPr dirty="0" sz="900" lang="en-US"/>
          </a:p>
        </p:txBody>
      </p:sp>
      <p:sp>
        <p:nvSpPr>
          <p:cNvPr id="1048832" name="Shape 38"/>
          <p:cNvSpPr/>
          <p:nvPr/>
        </p:nvSpPr>
        <p:spPr>
          <a:xfrm>
            <a:off x="2286000" y="3291840"/>
            <a:ext cx="1691640" cy="219456"/>
          </a:xfrm>
          <a:prstGeom prst="rect"/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8833" name="Text 39"/>
          <p:cNvSpPr/>
          <p:nvPr/>
        </p:nvSpPr>
        <p:spPr>
          <a:xfrm>
            <a:off x="2340864" y="3300984"/>
            <a:ext cx="1600200" cy="20116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(int)</a:t>
            </a:r>
            <a:endParaRPr dirty="0" sz="900" lang="en-US"/>
          </a:p>
        </p:txBody>
      </p:sp>
      <p:sp>
        <p:nvSpPr>
          <p:cNvPr id="1048834" name="Shape 40"/>
          <p:cNvSpPr/>
          <p:nvPr/>
        </p:nvSpPr>
        <p:spPr>
          <a:xfrm>
            <a:off x="4114800" y="3291840"/>
            <a:ext cx="4526280" cy="219456"/>
          </a:xfrm>
          <a:prstGeom prst="rect"/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8835" name="Text 41"/>
          <p:cNvSpPr/>
          <p:nvPr/>
        </p:nvSpPr>
        <p:spPr>
          <a:xfrm>
            <a:off x="4169664" y="3300984"/>
            <a:ext cx="4434840" cy="20116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in GB</a:t>
            </a:r>
            <a:endParaRPr dirty="0" sz="900" lang="en-US"/>
          </a:p>
        </p:txBody>
      </p:sp>
      <p:sp>
        <p:nvSpPr>
          <p:cNvPr id="1048836" name="Shape 42"/>
          <p:cNvSpPr/>
          <p:nvPr/>
        </p:nvSpPr>
        <p:spPr>
          <a:xfrm>
            <a:off x="320040" y="3529584"/>
            <a:ext cx="1828800" cy="219456"/>
          </a:xfrm>
          <a:prstGeom prst="rect"/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8837" name="Text 43"/>
          <p:cNvSpPr/>
          <p:nvPr/>
        </p:nvSpPr>
        <p:spPr>
          <a:xfrm>
            <a:off x="374904" y="3538728"/>
            <a:ext cx="1737360" cy="20116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900" lang="en-US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ram_type</a:t>
            </a:r>
            <a:endParaRPr dirty="0" sz="900" lang="en-US"/>
          </a:p>
        </p:txBody>
      </p:sp>
      <p:sp>
        <p:nvSpPr>
          <p:cNvPr id="1048838" name="Shape 44"/>
          <p:cNvSpPr/>
          <p:nvPr/>
        </p:nvSpPr>
        <p:spPr>
          <a:xfrm>
            <a:off x="2286000" y="3529584"/>
            <a:ext cx="1691640" cy="219456"/>
          </a:xfrm>
          <a:prstGeom prst="rect"/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8839" name="Text 45"/>
          <p:cNvSpPr/>
          <p:nvPr/>
        </p:nvSpPr>
        <p:spPr>
          <a:xfrm>
            <a:off x="2340864" y="3538728"/>
            <a:ext cx="1600200" cy="20116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dirty="0" sz="900" lang="en-US"/>
          </a:p>
        </p:txBody>
      </p:sp>
      <p:sp>
        <p:nvSpPr>
          <p:cNvPr id="1048840" name="Shape 46"/>
          <p:cNvSpPr/>
          <p:nvPr/>
        </p:nvSpPr>
        <p:spPr>
          <a:xfrm>
            <a:off x="4114800" y="3529584"/>
            <a:ext cx="4526280" cy="219456"/>
          </a:xfrm>
          <a:prstGeom prst="rect"/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8841" name="Text 47"/>
          <p:cNvSpPr/>
          <p:nvPr/>
        </p:nvSpPr>
        <p:spPr>
          <a:xfrm>
            <a:off x="4169664" y="3538728"/>
            <a:ext cx="4434840" cy="20116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DDR4 / DDR5 / LPDDR5 / Unknown</a:t>
            </a:r>
            <a:endParaRPr dirty="0" sz="900" lang="en-US"/>
          </a:p>
        </p:txBody>
      </p:sp>
      <p:sp>
        <p:nvSpPr>
          <p:cNvPr id="1048842" name="Shape 48"/>
          <p:cNvSpPr/>
          <p:nvPr/>
        </p:nvSpPr>
        <p:spPr>
          <a:xfrm>
            <a:off x="320040" y="3767328"/>
            <a:ext cx="1828800" cy="219456"/>
          </a:xfrm>
          <a:prstGeom prst="rect"/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8843" name="Text 49"/>
          <p:cNvSpPr/>
          <p:nvPr/>
        </p:nvSpPr>
        <p:spPr>
          <a:xfrm>
            <a:off x="374904" y="3776472"/>
            <a:ext cx="1737360" cy="20116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900" lang="en-US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storage_gb</a:t>
            </a:r>
            <a:endParaRPr dirty="0" sz="900" lang="en-US"/>
          </a:p>
        </p:txBody>
      </p:sp>
      <p:sp>
        <p:nvSpPr>
          <p:cNvPr id="1048844" name="Shape 50"/>
          <p:cNvSpPr/>
          <p:nvPr/>
        </p:nvSpPr>
        <p:spPr>
          <a:xfrm>
            <a:off x="2286000" y="3767328"/>
            <a:ext cx="1691640" cy="219456"/>
          </a:xfrm>
          <a:prstGeom prst="rect"/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8845" name="Text 51"/>
          <p:cNvSpPr/>
          <p:nvPr/>
        </p:nvSpPr>
        <p:spPr>
          <a:xfrm>
            <a:off x="2340864" y="3776472"/>
            <a:ext cx="1600200" cy="20116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(int)</a:t>
            </a:r>
            <a:endParaRPr dirty="0" sz="900" lang="en-US"/>
          </a:p>
        </p:txBody>
      </p:sp>
      <p:sp>
        <p:nvSpPr>
          <p:cNvPr id="1048846" name="Shape 52"/>
          <p:cNvSpPr/>
          <p:nvPr/>
        </p:nvSpPr>
        <p:spPr>
          <a:xfrm>
            <a:off x="4114800" y="3767328"/>
            <a:ext cx="4526280" cy="219456"/>
          </a:xfrm>
          <a:prstGeom prst="rect"/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8847" name="Text 53"/>
          <p:cNvSpPr/>
          <p:nvPr/>
        </p:nvSpPr>
        <p:spPr>
          <a:xfrm>
            <a:off x="4169664" y="3776472"/>
            <a:ext cx="4434840" cy="20116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in GB</a:t>
            </a:r>
            <a:endParaRPr dirty="0" sz="900" lang="en-US"/>
          </a:p>
        </p:txBody>
      </p:sp>
      <p:sp>
        <p:nvSpPr>
          <p:cNvPr id="1048848" name="Shape 54"/>
          <p:cNvSpPr/>
          <p:nvPr/>
        </p:nvSpPr>
        <p:spPr>
          <a:xfrm>
            <a:off x="320040" y="4005072"/>
            <a:ext cx="1828800" cy="219456"/>
          </a:xfrm>
          <a:prstGeom prst="rect"/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8849" name="Text 55"/>
          <p:cNvSpPr/>
          <p:nvPr/>
        </p:nvSpPr>
        <p:spPr>
          <a:xfrm>
            <a:off x="374904" y="4014216"/>
            <a:ext cx="1737360" cy="20116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900" lang="en-US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storage_type</a:t>
            </a:r>
            <a:endParaRPr dirty="0" sz="900" lang="en-US"/>
          </a:p>
        </p:txBody>
      </p:sp>
      <p:sp>
        <p:nvSpPr>
          <p:cNvPr id="1048850" name="Shape 56"/>
          <p:cNvSpPr/>
          <p:nvPr/>
        </p:nvSpPr>
        <p:spPr>
          <a:xfrm>
            <a:off x="2286000" y="4005072"/>
            <a:ext cx="1691640" cy="219456"/>
          </a:xfrm>
          <a:prstGeom prst="rect"/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8851" name="Text 57"/>
          <p:cNvSpPr/>
          <p:nvPr/>
        </p:nvSpPr>
        <p:spPr>
          <a:xfrm>
            <a:off x="2340864" y="4014216"/>
            <a:ext cx="1600200" cy="20116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dirty="0" sz="900" lang="en-US"/>
          </a:p>
        </p:txBody>
      </p:sp>
      <p:sp>
        <p:nvSpPr>
          <p:cNvPr id="1048852" name="Shape 58"/>
          <p:cNvSpPr/>
          <p:nvPr/>
        </p:nvSpPr>
        <p:spPr>
          <a:xfrm>
            <a:off x="4114800" y="4005072"/>
            <a:ext cx="4526280" cy="219456"/>
          </a:xfrm>
          <a:prstGeom prst="rect"/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8853" name="Text 59"/>
          <p:cNvSpPr/>
          <p:nvPr/>
        </p:nvSpPr>
        <p:spPr>
          <a:xfrm>
            <a:off x="4169664" y="4014216"/>
            <a:ext cx="4434840" cy="20116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 / HDD / eMMC</a:t>
            </a:r>
            <a:endParaRPr dirty="0" sz="900" lang="en-US"/>
          </a:p>
        </p:txBody>
      </p:sp>
      <p:sp>
        <p:nvSpPr>
          <p:cNvPr id="1048854" name="Shape 60"/>
          <p:cNvSpPr/>
          <p:nvPr/>
        </p:nvSpPr>
        <p:spPr>
          <a:xfrm>
            <a:off x="320040" y="4242816"/>
            <a:ext cx="1828800" cy="219456"/>
          </a:xfrm>
          <a:prstGeom prst="rect"/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8855" name="Text 61"/>
          <p:cNvSpPr/>
          <p:nvPr/>
        </p:nvSpPr>
        <p:spPr>
          <a:xfrm>
            <a:off x="374904" y="4251960"/>
            <a:ext cx="1737360" cy="20116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900" lang="en-US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endParaRPr dirty="0" sz="900" lang="en-US"/>
          </a:p>
        </p:txBody>
      </p:sp>
      <p:sp>
        <p:nvSpPr>
          <p:cNvPr id="1048856" name="Shape 62"/>
          <p:cNvSpPr/>
          <p:nvPr/>
        </p:nvSpPr>
        <p:spPr>
          <a:xfrm>
            <a:off x="2286000" y="4242816"/>
            <a:ext cx="1691640" cy="219456"/>
          </a:xfrm>
          <a:prstGeom prst="rect"/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8857" name="Text 63"/>
          <p:cNvSpPr/>
          <p:nvPr/>
        </p:nvSpPr>
        <p:spPr>
          <a:xfrm>
            <a:off x="2340864" y="4251960"/>
            <a:ext cx="1600200" cy="20116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dirty="0" sz="900" lang="en-US"/>
          </a:p>
        </p:txBody>
      </p:sp>
      <p:sp>
        <p:nvSpPr>
          <p:cNvPr id="1048858" name="Shape 64"/>
          <p:cNvSpPr/>
          <p:nvPr/>
        </p:nvSpPr>
        <p:spPr>
          <a:xfrm>
            <a:off x="4114800" y="4242816"/>
            <a:ext cx="4526280" cy="219456"/>
          </a:xfrm>
          <a:prstGeom prst="rect"/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8859" name="Text 65"/>
          <p:cNvSpPr/>
          <p:nvPr/>
        </p:nvSpPr>
        <p:spPr>
          <a:xfrm>
            <a:off x="4169664" y="4251960"/>
            <a:ext cx="4434840" cy="20116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</a:t>
            </a:r>
            <a:endParaRPr dirty="0" sz="900" lang="en-US"/>
          </a:p>
        </p:txBody>
      </p:sp>
      <p:sp>
        <p:nvSpPr>
          <p:cNvPr id="1048860" name="Shape 66"/>
          <p:cNvSpPr/>
          <p:nvPr/>
        </p:nvSpPr>
        <p:spPr>
          <a:xfrm>
            <a:off x="320040" y="4480560"/>
            <a:ext cx="1828800" cy="219456"/>
          </a:xfrm>
          <a:prstGeom prst="rect"/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8861" name="Text 67"/>
          <p:cNvSpPr/>
          <p:nvPr/>
        </p:nvSpPr>
        <p:spPr>
          <a:xfrm>
            <a:off x="374904" y="4489704"/>
            <a:ext cx="1737360" cy="20116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900" lang="en-US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dirty="0" sz="900" lang="en-US"/>
          </a:p>
        </p:txBody>
      </p:sp>
      <p:sp>
        <p:nvSpPr>
          <p:cNvPr id="1048862" name="Shape 68"/>
          <p:cNvSpPr/>
          <p:nvPr/>
        </p:nvSpPr>
        <p:spPr>
          <a:xfrm>
            <a:off x="2286000" y="4480560"/>
            <a:ext cx="1691640" cy="219456"/>
          </a:xfrm>
          <a:prstGeom prst="rect"/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8863" name="Text 69"/>
          <p:cNvSpPr/>
          <p:nvPr/>
        </p:nvSpPr>
        <p:spPr>
          <a:xfrm>
            <a:off x="2340864" y="4489704"/>
            <a:ext cx="1600200" cy="20116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(INR)</a:t>
            </a:r>
            <a:endParaRPr dirty="0" sz="900" lang="en-US"/>
          </a:p>
        </p:txBody>
      </p:sp>
      <p:sp>
        <p:nvSpPr>
          <p:cNvPr id="1048864" name="Shape 70"/>
          <p:cNvSpPr/>
          <p:nvPr/>
        </p:nvSpPr>
        <p:spPr>
          <a:xfrm>
            <a:off x="4114800" y="4480560"/>
            <a:ext cx="4526280" cy="219456"/>
          </a:xfrm>
          <a:prstGeom prst="rect"/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8865" name="Text 71"/>
          <p:cNvSpPr/>
          <p:nvPr/>
        </p:nvSpPr>
        <p:spPr>
          <a:xfrm>
            <a:off x="4169664" y="4489704"/>
            <a:ext cx="4434840" cy="20116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dirty="0" sz="900" lang="en-US"/>
          </a:p>
        </p:txBody>
      </p:sp>
      <p:sp>
        <p:nvSpPr>
          <p:cNvPr id="1048866" name="Shape 72"/>
          <p:cNvSpPr/>
          <p:nvPr/>
        </p:nvSpPr>
        <p:spPr>
          <a:xfrm>
            <a:off x="320040" y="4718304"/>
            <a:ext cx="1828800" cy="219456"/>
          </a:xfrm>
          <a:prstGeom prst="rect"/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8867" name="Text 73"/>
          <p:cNvSpPr/>
          <p:nvPr/>
        </p:nvSpPr>
        <p:spPr>
          <a:xfrm>
            <a:off x="374904" y="4727448"/>
            <a:ext cx="1737360" cy="20116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900" lang="en-US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dirty="0" sz="900" lang="en-US"/>
          </a:p>
        </p:txBody>
      </p:sp>
      <p:sp>
        <p:nvSpPr>
          <p:cNvPr id="1048868" name="Shape 74"/>
          <p:cNvSpPr/>
          <p:nvPr/>
        </p:nvSpPr>
        <p:spPr>
          <a:xfrm>
            <a:off x="2286000" y="4718304"/>
            <a:ext cx="1691640" cy="219456"/>
          </a:xfrm>
          <a:prstGeom prst="rect"/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8869" name="Text 75"/>
          <p:cNvSpPr/>
          <p:nvPr/>
        </p:nvSpPr>
        <p:spPr>
          <a:xfrm>
            <a:off x="2340864" y="4727448"/>
            <a:ext cx="1600200" cy="20116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</a:t>
            </a:r>
            <a:endParaRPr dirty="0" sz="900" lang="en-US"/>
          </a:p>
        </p:txBody>
      </p:sp>
      <p:sp>
        <p:nvSpPr>
          <p:cNvPr id="1048870" name="Shape 76"/>
          <p:cNvSpPr/>
          <p:nvPr/>
        </p:nvSpPr>
        <p:spPr>
          <a:xfrm>
            <a:off x="4114800" y="4718304"/>
            <a:ext cx="4526280" cy="219456"/>
          </a:xfrm>
          <a:prstGeom prst="rect"/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8871" name="Text 77"/>
          <p:cNvSpPr/>
          <p:nvPr/>
        </p:nvSpPr>
        <p:spPr>
          <a:xfrm>
            <a:off x="4169664" y="4727448"/>
            <a:ext cx="4434840" cy="20116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before modeling</a:t>
            </a:r>
            <a:endParaRPr dirty="0" sz="900" lang="en-US"/>
          </a:p>
        </p:txBody>
      </p:sp>
      <p:sp>
        <p:nvSpPr>
          <p:cNvPr id="1048872" name="Shape 85"/>
          <p:cNvSpPr/>
          <p:nvPr/>
        </p:nvSpPr>
        <p:spPr>
          <a:xfrm>
            <a:off x="0" y="4796028"/>
            <a:ext cx="9144000" cy="347472"/>
          </a:xfrm>
          <a:prstGeom prst="rect"/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48873" name="Text 86"/>
          <p:cNvSpPr/>
          <p:nvPr/>
        </p:nvSpPr>
        <p:spPr>
          <a:xfrm>
            <a:off x="274320" y="4832604"/>
            <a:ext cx="859536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Price Prediction Using Machine Learning</a:t>
            </a:r>
            <a:endParaRPr dirty="0" sz="900" lang="en-US"/>
          </a:p>
        </p:txBody>
      </p:sp>
      <p:sp>
        <p:nvSpPr>
          <p:cNvPr id="1048874" name="Shape 78"/>
          <p:cNvSpPr/>
          <p:nvPr/>
        </p:nvSpPr>
        <p:spPr>
          <a:xfrm>
            <a:off x="5887329" y="2286000"/>
            <a:ext cx="2936631" cy="2423160"/>
          </a:xfrm>
          <a:prstGeom prst="roundRect">
            <a:avLst>
              <a:gd name="adj" fmla="val 3774"/>
            </a:avLst>
          </a:prstGeom>
          <a:solidFill>
            <a:srgbClr val="EFF6FF"/>
          </a:solidFill>
          <a:effectLst>
            <a:outerShdw algn="bl" blurRad="76200" dir="2700000" dist="25400" rotWithShape="0">
              <a:srgbClr val="000000">
                <a:alpha val="8000"/>
              </a:srgbClr>
            </a:outerShdw>
          </a:effectLst>
        </p:spPr>
        <p:txBody>
          <a:bodyPr/>
          <a:p>
            <a:endParaRPr dirty="0" lang="en-IN"/>
          </a:p>
        </p:txBody>
      </p:sp>
      <p:sp>
        <p:nvSpPr>
          <p:cNvPr id="1048875" name="Text 79"/>
          <p:cNvSpPr/>
          <p:nvPr/>
        </p:nvSpPr>
        <p:spPr>
          <a:xfrm>
            <a:off x="6011477" y="2414016"/>
            <a:ext cx="2971800" cy="29260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500" lang="en-US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Range</a:t>
            </a:r>
            <a:endParaRPr dirty="0" sz="1500" lang="en-US"/>
          </a:p>
        </p:txBody>
      </p:sp>
      <p:sp>
        <p:nvSpPr>
          <p:cNvPr id="1048876" name="Text 80"/>
          <p:cNvSpPr/>
          <p:nvPr/>
        </p:nvSpPr>
        <p:spPr>
          <a:xfrm>
            <a:off x="6011477" y="2798064"/>
            <a:ext cx="297180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2600" lang="en-US">
                <a:solidFill>
                  <a:schemeClr val="accent1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₹8,000</a:t>
            </a:r>
            <a:endParaRPr dirty="0" sz="2600" lang="en-US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48877" name="Text 81"/>
          <p:cNvSpPr/>
          <p:nvPr/>
        </p:nvSpPr>
        <p:spPr>
          <a:xfrm>
            <a:off x="6011477" y="3273552"/>
            <a:ext cx="2971800" cy="20116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900" lang="en-US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</a:t>
            </a:r>
            <a:endParaRPr b="1" dirty="0" sz="900" lang="en-US"/>
          </a:p>
        </p:txBody>
      </p:sp>
      <p:sp>
        <p:nvSpPr>
          <p:cNvPr id="1048878" name="Text 82"/>
          <p:cNvSpPr/>
          <p:nvPr/>
        </p:nvSpPr>
        <p:spPr>
          <a:xfrm>
            <a:off x="6011477" y="3511296"/>
            <a:ext cx="297180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2600" lang="en-US">
                <a:solidFill>
                  <a:schemeClr val="accent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₹6,64,425</a:t>
            </a:r>
            <a:endParaRPr dirty="0" sz="2600" lang="en-US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48879" name="Text 83"/>
          <p:cNvSpPr/>
          <p:nvPr/>
        </p:nvSpPr>
        <p:spPr>
          <a:xfrm>
            <a:off x="6011477" y="3986784"/>
            <a:ext cx="2971800" cy="20116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900" lang="en-US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</a:t>
            </a:r>
            <a:endParaRPr b="1" dirty="0" sz="900" lang="en-US"/>
          </a:p>
        </p:txBody>
      </p:sp>
      <p:sp>
        <p:nvSpPr>
          <p:cNvPr id="1048880" name="Text 84"/>
          <p:cNvSpPr/>
          <p:nvPr/>
        </p:nvSpPr>
        <p:spPr>
          <a:xfrm>
            <a:off x="6011477" y="4279392"/>
            <a:ext cx="2971800" cy="25603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chemeClr val="accent1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Median: ₹74,390</a:t>
            </a:r>
            <a:endParaRPr dirty="0" sz="1100" lang="en-US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4" name="Text 0"/>
          <p:cNvSpPr/>
          <p:nvPr/>
        </p:nvSpPr>
        <p:spPr>
          <a:xfrm>
            <a:off x="365760" y="164592"/>
            <a:ext cx="8412480" cy="475488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b="1" dirty="0" sz="2800" lang="en-US">
                <a:solidFill>
                  <a:schemeClr val="accent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— Key Findings</a:t>
            </a:r>
            <a:endParaRPr dirty="0" sz="2800" lang="en-US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48885" name="Shape 1"/>
          <p:cNvSpPr/>
          <p:nvPr/>
        </p:nvSpPr>
        <p:spPr>
          <a:xfrm>
            <a:off x="365760" y="658368"/>
            <a:ext cx="914400" cy="41148"/>
          </a:xfrm>
          <a:prstGeom prst="rect"/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48886" name="Shape 2"/>
          <p:cNvSpPr/>
          <p:nvPr/>
        </p:nvSpPr>
        <p:spPr>
          <a:xfrm>
            <a:off x="274320" y="868680"/>
            <a:ext cx="4206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effectLst>
            <a:outerShdw algn="bl" blurRad="76200" dir="2700000" dist="25400" rotWithShape="0">
              <a:srgbClr val="000000">
                <a:alpha val="8000"/>
              </a:srgbClr>
            </a:outerShdw>
          </a:effectLst>
        </p:spPr>
      </p:sp>
      <p:sp>
        <p:nvSpPr>
          <p:cNvPr id="1048887" name="Shape 3"/>
          <p:cNvSpPr/>
          <p:nvPr/>
        </p:nvSpPr>
        <p:spPr>
          <a:xfrm>
            <a:off x="438912" y="1143000"/>
            <a:ext cx="438912" cy="438912"/>
          </a:xfrm>
          <a:prstGeom prst="ellipse"/>
          <a:solidFill>
            <a:schemeClr val="accent1">
              <a:lumMod val="75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48888" name="Text 4"/>
          <p:cNvSpPr/>
          <p:nvPr/>
        </p:nvSpPr>
        <p:spPr>
          <a:xfrm>
            <a:off x="438912" y="1143000"/>
            <a:ext cx="438912" cy="43891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dirty="0" sz="1100" lang="en-US"/>
          </a:p>
        </p:txBody>
      </p:sp>
      <p:sp>
        <p:nvSpPr>
          <p:cNvPr id="1048889" name="Text 5"/>
          <p:cNvSpPr/>
          <p:nvPr/>
        </p:nvSpPr>
        <p:spPr>
          <a:xfrm>
            <a:off x="960120" y="978408"/>
            <a:ext cx="3383280" cy="29260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is Right-Skewed</a:t>
            </a:r>
            <a:endParaRPr dirty="0" sz="1100" lang="en-US"/>
          </a:p>
        </p:txBody>
      </p:sp>
      <p:sp>
        <p:nvSpPr>
          <p:cNvPr id="1048890" name="Text 6"/>
          <p:cNvSpPr/>
          <p:nvPr/>
        </p:nvSpPr>
        <p:spPr>
          <a:xfrm>
            <a:off x="960120" y="1289304"/>
            <a:ext cx="3383280" cy="7132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50" lang="en-US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 = 2.08. Most laptops cluster in ₹30K–₹1.5L, with a long premium tail. Log-transform required before modeling.</a:t>
            </a:r>
            <a:endParaRPr dirty="0" sz="950" lang="en-US"/>
          </a:p>
        </p:txBody>
      </p:sp>
      <p:sp>
        <p:nvSpPr>
          <p:cNvPr id="1048891" name="Shape 7"/>
          <p:cNvSpPr/>
          <p:nvPr/>
        </p:nvSpPr>
        <p:spPr>
          <a:xfrm>
            <a:off x="4663440" y="868680"/>
            <a:ext cx="4206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effectLst>
            <a:outerShdw algn="bl" blurRad="76200" dir="2700000" dist="25400" rotWithShape="0">
              <a:srgbClr val="000000">
                <a:alpha val="8000"/>
              </a:srgbClr>
            </a:outerShdw>
          </a:effectLst>
        </p:spPr>
      </p:sp>
      <p:sp>
        <p:nvSpPr>
          <p:cNvPr id="1048892" name="Shape 8"/>
          <p:cNvSpPr/>
          <p:nvPr/>
        </p:nvSpPr>
        <p:spPr>
          <a:xfrm>
            <a:off x="4828032" y="1143000"/>
            <a:ext cx="438912" cy="438912"/>
          </a:xfrm>
          <a:prstGeom prst="ellipse"/>
          <a:solidFill>
            <a:schemeClr val="accent1">
              <a:lumMod val="75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48893" name="Text 9"/>
          <p:cNvSpPr/>
          <p:nvPr/>
        </p:nvSpPr>
        <p:spPr>
          <a:xfrm>
            <a:off x="4828032" y="1143000"/>
            <a:ext cx="438912" cy="43891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dirty="0" sz="1100" lang="en-US"/>
          </a:p>
        </p:txBody>
      </p:sp>
      <p:sp>
        <p:nvSpPr>
          <p:cNvPr id="1048894" name="Text 10"/>
          <p:cNvSpPr/>
          <p:nvPr/>
        </p:nvSpPr>
        <p:spPr>
          <a:xfrm>
            <a:off x="5349240" y="978408"/>
            <a:ext cx="3383280" cy="29260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RAM is the Strongest Predictor</a:t>
            </a:r>
            <a:endParaRPr dirty="0" sz="1100" lang="en-US"/>
          </a:p>
        </p:txBody>
      </p:sp>
      <p:sp>
        <p:nvSpPr>
          <p:cNvPr id="1048895" name="Text 11"/>
          <p:cNvSpPr/>
          <p:nvPr/>
        </p:nvSpPr>
        <p:spPr>
          <a:xfrm>
            <a:off x="5349240" y="1289304"/>
            <a:ext cx="3383280" cy="7132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50" lang="en-US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r = 0.56 with price. Every RAM tier step (8→16→32 GB) shows a consistent, monotonic price jump.</a:t>
            </a:r>
            <a:endParaRPr dirty="0" sz="950" lang="en-US"/>
          </a:p>
        </p:txBody>
      </p:sp>
      <p:sp>
        <p:nvSpPr>
          <p:cNvPr id="1048896" name="Shape 12"/>
          <p:cNvSpPr/>
          <p:nvPr/>
        </p:nvSpPr>
        <p:spPr>
          <a:xfrm>
            <a:off x="274320" y="2240280"/>
            <a:ext cx="4206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effectLst>
            <a:outerShdw algn="bl" blurRad="76200" dir="2700000" dist="25400" rotWithShape="0">
              <a:srgbClr val="000000">
                <a:alpha val="8000"/>
              </a:srgbClr>
            </a:outerShdw>
          </a:effectLst>
        </p:spPr>
      </p:sp>
      <p:sp>
        <p:nvSpPr>
          <p:cNvPr id="1048897" name="Shape 13"/>
          <p:cNvSpPr/>
          <p:nvPr/>
        </p:nvSpPr>
        <p:spPr>
          <a:xfrm>
            <a:off x="438912" y="2514600"/>
            <a:ext cx="438912" cy="438912"/>
          </a:xfrm>
          <a:prstGeom prst="ellipse"/>
          <a:solidFill>
            <a:schemeClr val="accent1">
              <a:lumMod val="75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48898" name="Text 14"/>
          <p:cNvSpPr/>
          <p:nvPr/>
        </p:nvSpPr>
        <p:spPr>
          <a:xfrm>
            <a:off x="438912" y="2514600"/>
            <a:ext cx="438912" cy="43891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dirty="0" sz="1100" lang="en-US"/>
          </a:p>
        </p:txBody>
      </p:sp>
      <p:sp>
        <p:nvSpPr>
          <p:cNvPr id="1048899" name="Text 15"/>
          <p:cNvSpPr/>
          <p:nvPr/>
        </p:nvSpPr>
        <p:spPr>
          <a:xfrm>
            <a:off x="960120" y="2350008"/>
            <a:ext cx="3383280" cy="29260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 Drives Significant Premium</a:t>
            </a:r>
            <a:endParaRPr dirty="0" sz="1100" lang="en-US"/>
          </a:p>
        </p:txBody>
      </p:sp>
      <p:sp>
        <p:nvSpPr>
          <p:cNvPr id="1048900" name="Text 16"/>
          <p:cNvSpPr/>
          <p:nvPr/>
        </p:nvSpPr>
        <p:spPr>
          <a:xfrm>
            <a:off x="960120" y="2660904"/>
            <a:ext cx="3383280" cy="7132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50" lang="en-US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Razer, Apple, and Microsoft command 2–4× the median price of budget brands like AXL or Primebook.</a:t>
            </a:r>
            <a:endParaRPr dirty="0" sz="950" lang="en-US"/>
          </a:p>
        </p:txBody>
      </p:sp>
      <p:sp>
        <p:nvSpPr>
          <p:cNvPr id="1048901" name="Shape 17"/>
          <p:cNvSpPr/>
          <p:nvPr/>
        </p:nvSpPr>
        <p:spPr>
          <a:xfrm>
            <a:off x="4663440" y="2240280"/>
            <a:ext cx="4206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effectLst>
            <a:outerShdw algn="bl" blurRad="76200" dir="2700000" dist="25400" rotWithShape="0">
              <a:srgbClr val="000000">
                <a:alpha val="8000"/>
              </a:srgbClr>
            </a:outerShdw>
          </a:effectLst>
        </p:spPr>
      </p:sp>
      <p:sp>
        <p:nvSpPr>
          <p:cNvPr id="1048902" name="Shape 18"/>
          <p:cNvSpPr/>
          <p:nvPr/>
        </p:nvSpPr>
        <p:spPr>
          <a:xfrm>
            <a:off x="4828032" y="2514600"/>
            <a:ext cx="438912" cy="438912"/>
          </a:xfrm>
          <a:prstGeom prst="ellipse"/>
          <a:solidFill>
            <a:schemeClr val="accent1">
              <a:lumMod val="75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48903" name="Text 19"/>
          <p:cNvSpPr/>
          <p:nvPr/>
        </p:nvSpPr>
        <p:spPr>
          <a:xfrm>
            <a:off x="4828032" y="2514600"/>
            <a:ext cx="438912" cy="43891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dirty="0" sz="1100" lang="en-US"/>
          </a:p>
        </p:txBody>
      </p:sp>
      <p:sp>
        <p:nvSpPr>
          <p:cNvPr id="1048904" name="Text 20"/>
          <p:cNvSpPr/>
          <p:nvPr/>
        </p:nvSpPr>
        <p:spPr>
          <a:xfrm>
            <a:off x="5349240" y="2350008"/>
            <a:ext cx="3383280" cy="29260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 Type Matters More Than Size</a:t>
            </a:r>
            <a:endParaRPr dirty="0" sz="1100" lang="en-US"/>
          </a:p>
        </p:txBody>
      </p:sp>
      <p:sp>
        <p:nvSpPr>
          <p:cNvPr id="1048905" name="Text 21"/>
          <p:cNvSpPr/>
          <p:nvPr/>
        </p:nvSpPr>
        <p:spPr>
          <a:xfrm>
            <a:off x="5349240" y="2660904"/>
            <a:ext cx="3383280" cy="7132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50" lang="en-US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 vs HDD creates a larger price gap than doubling storage capacity — type is a stronger signal than quantity.</a:t>
            </a:r>
            <a:endParaRPr dirty="0" sz="950" lang="en-US"/>
          </a:p>
        </p:txBody>
      </p:sp>
      <p:sp>
        <p:nvSpPr>
          <p:cNvPr id="1048906" name="Shape 22"/>
          <p:cNvSpPr/>
          <p:nvPr/>
        </p:nvSpPr>
        <p:spPr>
          <a:xfrm>
            <a:off x="274320" y="3611880"/>
            <a:ext cx="4206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effectLst>
            <a:outerShdw algn="bl" blurRad="76200" dir="2700000" dist="25400" rotWithShape="0">
              <a:srgbClr val="000000">
                <a:alpha val="8000"/>
              </a:srgbClr>
            </a:outerShdw>
          </a:effectLst>
        </p:spPr>
      </p:sp>
      <p:sp>
        <p:nvSpPr>
          <p:cNvPr id="1048907" name="Shape 23"/>
          <p:cNvSpPr/>
          <p:nvPr/>
        </p:nvSpPr>
        <p:spPr>
          <a:xfrm>
            <a:off x="438912" y="3886200"/>
            <a:ext cx="438912" cy="438912"/>
          </a:xfrm>
          <a:prstGeom prst="ellipse"/>
          <a:solidFill>
            <a:schemeClr val="accent1">
              <a:lumMod val="75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48908" name="Text 24"/>
          <p:cNvSpPr/>
          <p:nvPr/>
        </p:nvSpPr>
        <p:spPr>
          <a:xfrm>
            <a:off x="438912" y="3886200"/>
            <a:ext cx="438912" cy="43891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dirty="0" sz="1100" lang="en-US"/>
          </a:p>
        </p:txBody>
      </p:sp>
      <p:sp>
        <p:nvSpPr>
          <p:cNvPr id="1048909" name="Text 25"/>
          <p:cNvSpPr/>
          <p:nvPr/>
        </p:nvSpPr>
        <p:spPr>
          <a:xfrm>
            <a:off x="960120" y="3721608"/>
            <a:ext cx="3383280" cy="29260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and Brand Are Correlated</a:t>
            </a:r>
            <a:endParaRPr dirty="0" sz="1100" lang="en-US"/>
          </a:p>
        </p:txBody>
      </p:sp>
      <p:sp>
        <p:nvSpPr>
          <p:cNvPr id="1048910" name="Text 26"/>
          <p:cNvSpPr/>
          <p:nvPr/>
        </p:nvSpPr>
        <p:spPr>
          <a:xfrm>
            <a:off x="960120" y="4032504"/>
            <a:ext cx="3383280" cy="7132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50" lang="en-US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= Apple exclusively. Including both causes multicollinearity — addressed in feature engineering.</a:t>
            </a:r>
            <a:endParaRPr dirty="0" sz="950" lang="en-US"/>
          </a:p>
        </p:txBody>
      </p:sp>
      <p:sp>
        <p:nvSpPr>
          <p:cNvPr id="1048911" name="Shape 27"/>
          <p:cNvSpPr/>
          <p:nvPr/>
        </p:nvSpPr>
        <p:spPr>
          <a:xfrm>
            <a:off x="4663440" y="3611880"/>
            <a:ext cx="4206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effectLst>
            <a:outerShdw algn="bl" blurRad="76200" dir="2700000" dist="25400" rotWithShape="0">
              <a:srgbClr val="000000">
                <a:alpha val="8000"/>
              </a:srgbClr>
            </a:outerShdw>
          </a:effectLst>
        </p:spPr>
      </p:sp>
      <p:sp>
        <p:nvSpPr>
          <p:cNvPr id="1048912" name="Shape 28"/>
          <p:cNvSpPr/>
          <p:nvPr/>
        </p:nvSpPr>
        <p:spPr>
          <a:xfrm>
            <a:off x="4828032" y="3886200"/>
            <a:ext cx="438912" cy="438912"/>
          </a:xfrm>
          <a:prstGeom prst="ellipse"/>
          <a:solidFill>
            <a:schemeClr val="accent1">
              <a:lumMod val="75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48913" name="Text 29"/>
          <p:cNvSpPr/>
          <p:nvPr/>
        </p:nvSpPr>
        <p:spPr>
          <a:xfrm>
            <a:off x="4828032" y="3886200"/>
            <a:ext cx="438912" cy="43891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dirty="0" sz="1100" lang="en-US"/>
          </a:p>
        </p:txBody>
      </p:sp>
      <p:sp>
        <p:nvSpPr>
          <p:cNvPr id="1048914" name="Text 30"/>
          <p:cNvSpPr/>
          <p:nvPr/>
        </p:nvSpPr>
        <p:spPr>
          <a:xfrm>
            <a:off x="5349240" y="3721608"/>
            <a:ext cx="3383280" cy="29260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Outliers Are Real Premium Products</a:t>
            </a:r>
            <a:endParaRPr dirty="0" sz="1100" lang="en-US"/>
          </a:p>
        </p:txBody>
      </p:sp>
      <p:sp>
        <p:nvSpPr>
          <p:cNvPr id="1048915" name="Text 31"/>
          <p:cNvSpPr/>
          <p:nvPr/>
        </p:nvSpPr>
        <p:spPr>
          <a:xfrm>
            <a:off x="5349240" y="4032504"/>
            <a:ext cx="3383280" cy="7132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50" lang="en-US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outliers are Razer/Apple workstations, not data errors. Kept all; log-transform handles their leverage.</a:t>
            </a:r>
            <a:endParaRPr dirty="0" sz="950" lang="en-US"/>
          </a:p>
        </p:txBody>
      </p:sp>
      <p:sp>
        <p:nvSpPr>
          <p:cNvPr id="1048916" name="Shape 32"/>
          <p:cNvSpPr/>
          <p:nvPr/>
        </p:nvSpPr>
        <p:spPr>
          <a:xfrm>
            <a:off x="0" y="4796028"/>
            <a:ext cx="9144000" cy="347472"/>
          </a:xfrm>
          <a:prstGeom prst="rect"/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48917" name="Text 33"/>
          <p:cNvSpPr/>
          <p:nvPr/>
        </p:nvSpPr>
        <p:spPr>
          <a:xfrm>
            <a:off x="274320" y="4832604"/>
            <a:ext cx="859536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Price Prediction Using Machine Learning</a:t>
            </a:r>
            <a:endParaRPr dirty="0" sz="900"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9" name="Text 0"/>
          <p:cNvSpPr/>
          <p:nvPr/>
        </p:nvSpPr>
        <p:spPr>
          <a:xfrm>
            <a:off x="365760" y="164592"/>
            <a:ext cx="8412480" cy="475488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b="1" dirty="0" sz="2800" lang="en-US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dirty="0" sz="2800" lang="en-US"/>
          </a:p>
        </p:txBody>
      </p:sp>
      <p:sp>
        <p:nvSpPr>
          <p:cNvPr id="1048650" name="Shape 1"/>
          <p:cNvSpPr/>
          <p:nvPr/>
        </p:nvSpPr>
        <p:spPr>
          <a:xfrm>
            <a:off x="365760" y="658368"/>
            <a:ext cx="914400" cy="41148"/>
          </a:xfrm>
          <a:prstGeom prst="rect"/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48651" name="Text 2"/>
          <p:cNvSpPr/>
          <p:nvPr/>
        </p:nvSpPr>
        <p:spPr>
          <a:xfrm>
            <a:off x="365760" y="804672"/>
            <a:ext cx="841248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200" lang="en-US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Transformed 10 raw columns into 44 model-ready features.</a:t>
            </a:r>
            <a:endParaRPr dirty="0" sz="1200" lang="en-US"/>
          </a:p>
        </p:txBody>
      </p:sp>
      <p:sp>
        <p:nvSpPr>
          <p:cNvPr id="1048652" name="Shape 3"/>
          <p:cNvSpPr/>
          <p:nvPr/>
        </p:nvSpPr>
        <p:spPr>
          <a:xfrm>
            <a:off x="320040" y="1207008"/>
            <a:ext cx="5303520" cy="566928"/>
          </a:xfrm>
          <a:prstGeom prst="roundRect">
            <a:avLst>
              <a:gd name="adj" fmla="val 11290"/>
            </a:avLst>
          </a:prstGeom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8653" name="Text 4"/>
          <p:cNvSpPr/>
          <p:nvPr/>
        </p:nvSpPr>
        <p:spPr>
          <a:xfrm>
            <a:off x="457200" y="1243584"/>
            <a:ext cx="182880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50" lang="en-US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cpu_brand</a:t>
            </a:r>
            <a:endParaRPr dirty="0" sz="1050" lang="en-US"/>
          </a:p>
        </p:txBody>
      </p:sp>
      <p:sp>
        <p:nvSpPr>
          <p:cNvPr id="1048654" name="Text 5"/>
          <p:cNvSpPr/>
          <p:nvPr/>
        </p:nvSpPr>
        <p:spPr>
          <a:xfrm>
            <a:off x="457200" y="1481328"/>
            <a:ext cx="1828800" cy="20116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850" lang="en-US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processor string</a:t>
            </a:r>
            <a:endParaRPr dirty="0" sz="850" lang="en-US"/>
          </a:p>
        </p:txBody>
      </p:sp>
      <p:pic>
        <p:nvPicPr>
          <p:cNvPr id="2097158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2395728" y="1335024"/>
            <a:ext cx="256032" cy="256032"/>
          </a:xfrm>
          <a:prstGeom prst="rect"/>
        </p:spPr>
      </p:pic>
      <p:sp>
        <p:nvSpPr>
          <p:cNvPr id="1048655" name="Text 6"/>
          <p:cNvSpPr/>
          <p:nvPr/>
        </p:nvSpPr>
        <p:spPr>
          <a:xfrm>
            <a:off x="2743200" y="1280160"/>
            <a:ext cx="2743200" cy="42062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50" lang="en-US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/ AMD / Apple / Qualcomm / MediaTek</a:t>
            </a:r>
            <a:endParaRPr dirty="0" sz="950" lang="en-US"/>
          </a:p>
        </p:txBody>
      </p:sp>
      <p:sp>
        <p:nvSpPr>
          <p:cNvPr id="1048656" name="Shape 7"/>
          <p:cNvSpPr/>
          <p:nvPr/>
        </p:nvSpPr>
        <p:spPr>
          <a:xfrm>
            <a:off x="320040" y="1865376"/>
            <a:ext cx="5303520" cy="566928"/>
          </a:xfrm>
          <a:prstGeom prst="roundRect">
            <a:avLst>
              <a:gd name="adj" fmla="val 11290"/>
            </a:avLst>
          </a:prstGeom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8657" name="Text 8"/>
          <p:cNvSpPr/>
          <p:nvPr/>
        </p:nvSpPr>
        <p:spPr>
          <a:xfrm>
            <a:off x="457200" y="1901952"/>
            <a:ext cx="182880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50" lang="en-US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cpu_tier</a:t>
            </a:r>
            <a:endParaRPr dirty="0" sz="1050" lang="en-US"/>
          </a:p>
        </p:txBody>
      </p:sp>
      <p:sp>
        <p:nvSpPr>
          <p:cNvPr id="1048658" name="Text 9"/>
          <p:cNvSpPr/>
          <p:nvPr/>
        </p:nvSpPr>
        <p:spPr>
          <a:xfrm>
            <a:off x="457200" y="2139696"/>
            <a:ext cx="1828800" cy="20116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850" lang="en-US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processor string</a:t>
            </a:r>
            <a:endParaRPr dirty="0" sz="850" lang="en-US"/>
          </a:p>
        </p:txBody>
      </p:sp>
      <p:pic>
        <p:nvPicPr>
          <p:cNvPr id="2097159" name="Image 1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2395728" y="1993392"/>
            <a:ext cx="256032" cy="256032"/>
          </a:xfrm>
          <a:prstGeom prst="rect"/>
        </p:spPr>
      </p:pic>
      <p:sp>
        <p:nvSpPr>
          <p:cNvPr id="1048659" name="Text 10"/>
          <p:cNvSpPr/>
          <p:nvPr/>
        </p:nvSpPr>
        <p:spPr>
          <a:xfrm>
            <a:off x="2743200" y="1938528"/>
            <a:ext cx="2743200" cy="42062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50" lang="en-US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 / i5 / i7 / i9 / Ryzen 3–9 / Apple Silicon</a:t>
            </a:r>
            <a:endParaRPr dirty="0" sz="950" lang="en-US"/>
          </a:p>
        </p:txBody>
      </p:sp>
      <p:sp>
        <p:nvSpPr>
          <p:cNvPr id="1048660" name="Shape 11"/>
          <p:cNvSpPr/>
          <p:nvPr/>
        </p:nvSpPr>
        <p:spPr>
          <a:xfrm>
            <a:off x="320040" y="2523744"/>
            <a:ext cx="5303520" cy="566928"/>
          </a:xfrm>
          <a:prstGeom prst="roundRect">
            <a:avLst>
              <a:gd name="adj" fmla="val 11290"/>
            </a:avLst>
          </a:prstGeom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8661" name="Text 12"/>
          <p:cNvSpPr/>
          <p:nvPr/>
        </p:nvSpPr>
        <p:spPr>
          <a:xfrm>
            <a:off x="457200" y="2560320"/>
            <a:ext cx="182880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50" lang="en-US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gpu_type</a:t>
            </a:r>
            <a:endParaRPr dirty="0" sz="1050" lang="en-US"/>
          </a:p>
        </p:txBody>
      </p:sp>
      <p:sp>
        <p:nvSpPr>
          <p:cNvPr id="1048662" name="Text 13"/>
          <p:cNvSpPr/>
          <p:nvPr/>
        </p:nvSpPr>
        <p:spPr>
          <a:xfrm>
            <a:off x="457200" y="2798064"/>
            <a:ext cx="1828800" cy="20116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850" lang="en-US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gpu string</a:t>
            </a:r>
            <a:endParaRPr dirty="0" sz="850" lang="en-US"/>
          </a:p>
        </p:txBody>
      </p:sp>
      <p:pic>
        <p:nvPicPr>
          <p:cNvPr id="2097160" name="Image 2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2395728" y="2651760"/>
            <a:ext cx="256032" cy="256032"/>
          </a:xfrm>
          <a:prstGeom prst="rect"/>
        </p:spPr>
      </p:pic>
      <p:sp>
        <p:nvSpPr>
          <p:cNvPr id="1048663" name="Text 14"/>
          <p:cNvSpPr/>
          <p:nvPr/>
        </p:nvSpPr>
        <p:spPr>
          <a:xfrm>
            <a:off x="2743200" y="2596896"/>
            <a:ext cx="2743200" cy="42062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50" lang="en-US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(NVIDIA/AMD) vs Integrated</a:t>
            </a:r>
            <a:endParaRPr dirty="0" sz="950" lang="en-US"/>
          </a:p>
        </p:txBody>
      </p:sp>
      <p:sp>
        <p:nvSpPr>
          <p:cNvPr id="1048664" name="Shape 15"/>
          <p:cNvSpPr/>
          <p:nvPr/>
        </p:nvSpPr>
        <p:spPr>
          <a:xfrm>
            <a:off x="320040" y="3182112"/>
            <a:ext cx="5303520" cy="566928"/>
          </a:xfrm>
          <a:prstGeom prst="roundRect">
            <a:avLst>
              <a:gd name="adj" fmla="val 11290"/>
            </a:avLst>
          </a:prstGeom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8665" name="Text 16"/>
          <p:cNvSpPr/>
          <p:nvPr/>
        </p:nvSpPr>
        <p:spPr>
          <a:xfrm>
            <a:off x="457200" y="3218688"/>
            <a:ext cx="182880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50" lang="en-US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brand_encoded</a:t>
            </a:r>
            <a:endParaRPr dirty="0" sz="1050" lang="en-US"/>
          </a:p>
        </p:txBody>
      </p:sp>
      <p:sp>
        <p:nvSpPr>
          <p:cNvPr id="1048666" name="Text 17"/>
          <p:cNvSpPr/>
          <p:nvPr/>
        </p:nvSpPr>
        <p:spPr>
          <a:xfrm>
            <a:off x="457200" y="3456432"/>
            <a:ext cx="1828800" cy="20116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850" lang="en-US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brand (target encoding)</a:t>
            </a:r>
            <a:endParaRPr dirty="0" sz="850" lang="en-US"/>
          </a:p>
        </p:txBody>
      </p:sp>
      <p:pic>
        <p:nvPicPr>
          <p:cNvPr id="2097161" name="Image 3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2395728" y="3310128"/>
            <a:ext cx="256032" cy="256032"/>
          </a:xfrm>
          <a:prstGeom prst="rect"/>
        </p:spPr>
      </p:pic>
      <p:sp>
        <p:nvSpPr>
          <p:cNvPr id="1048667" name="Text 18"/>
          <p:cNvSpPr/>
          <p:nvPr/>
        </p:nvSpPr>
        <p:spPr>
          <a:xfrm>
            <a:off x="2743200" y="3255264"/>
            <a:ext cx="2743200" cy="42062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50" lang="en-US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log-price per brand → 1 dense numeric column</a:t>
            </a:r>
            <a:endParaRPr dirty="0" sz="950" lang="en-US"/>
          </a:p>
        </p:txBody>
      </p:sp>
      <p:sp>
        <p:nvSpPr>
          <p:cNvPr id="1048668" name="Shape 19"/>
          <p:cNvSpPr/>
          <p:nvPr/>
        </p:nvSpPr>
        <p:spPr>
          <a:xfrm>
            <a:off x="320040" y="3840480"/>
            <a:ext cx="5303520" cy="566928"/>
          </a:xfrm>
          <a:prstGeom prst="roundRect">
            <a:avLst>
              <a:gd name="adj" fmla="val 11290"/>
            </a:avLst>
          </a:prstGeom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8669" name="Text 20"/>
          <p:cNvSpPr/>
          <p:nvPr/>
        </p:nvSpPr>
        <p:spPr>
          <a:xfrm>
            <a:off x="457200" y="3877056"/>
            <a:ext cx="182880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50" lang="en-US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price_log</a:t>
            </a:r>
            <a:endParaRPr dirty="0" sz="1050" lang="en-US"/>
          </a:p>
        </p:txBody>
      </p:sp>
      <p:sp>
        <p:nvSpPr>
          <p:cNvPr id="1048670" name="Text 21"/>
          <p:cNvSpPr/>
          <p:nvPr/>
        </p:nvSpPr>
        <p:spPr>
          <a:xfrm>
            <a:off x="457200" y="4114800"/>
            <a:ext cx="1828800" cy="20116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850" lang="en-US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price</a:t>
            </a:r>
            <a:endParaRPr dirty="0" sz="850" lang="en-US"/>
          </a:p>
        </p:txBody>
      </p:sp>
      <p:pic>
        <p:nvPicPr>
          <p:cNvPr id="2097162" name="Image 4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2395728" y="3968496"/>
            <a:ext cx="256032" cy="256032"/>
          </a:xfrm>
          <a:prstGeom prst="rect"/>
        </p:spPr>
      </p:pic>
      <p:sp>
        <p:nvSpPr>
          <p:cNvPr id="1048671" name="Text 22"/>
          <p:cNvSpPr/>
          <p:nvPr/>
        </p:nvSpPr>
        <p:spPr>
          <a:xfrm>
            <a:off x="2743200" y="3913632"/>
            <a:ext cx="2743200" cy="42062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50" lang="en-US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log1p(price) — reduces skewness from 2.08 → 0.04</a:t>
            </a:r>
            <a:endParaRPr dirty="0" sz="950" lang="en-US"/>
          </a:p>
        </p:txBody>
      </p:sp>
      <p:sp>
        <p:nvSpPr>
          <p:cNvPr id="1048672" name="Shape 23"/>
          <p:cNvSpPr/>
          <p:nvPr/>
        </p:nvSpPr>
        <p:spPr>
          <a:xfrm>
            <a:off x="5733288" y="1138428"/>
            <a:ext cx="3017520" cy="3337560"/>
          </a:xfrm>
          <a:prstGeom prst="roundRect">
            <a:avLst>
              <a:gd name="adj" fmla="val 3030"/>
            </a:avLst>
          </a:prstGeom>
          <a:solidFill>
            <a:schemeClr val="accent1">
              <a:lumMod val="75000"/>
            </a:schemeClr>
          </a:solidFill>
          <a:effectLst>
            <a:outerShdw algn="bl" blurRad="101600" dir="2700000" dist="25400" rotWithShape="0">
              <a:srgbClr val="000000">
                <a:alpha val="12000"/>
              </a:srgbClr>
            </a:outerShdw>
          </a:effectLst>
        </p:spPr>
      </p:sp>
      <p:sp>
        <p:nvSpPr>
          <p:cNvPr id="1048673" name="Text 24"/>
          <p:cNvSpPr/>
          <p:nvPr/>
        </p:nvSpPr>
        <p:spPr>
          <a:xfrm>
            <a:off x="5943600" y="1261872"/>
            <a:ext cx="2743200" cy="3200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2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Encoding Strategy</a:t>
            </a:r>
            <a:endParaRPr dirty="0" sz="1200" lang="en-US"/>
          </a:p>
        </p:txBody>
      </p:sp>
      <p:sp>
        <p:nvSpPr>
          <p:cNvPr id="1048674" name="Text 25"/>
          <p:cNvSpPr/>
          <p:nvPr/>
        </p:nvSpPr>
        <p:spPr>
          <a:xfrm>
            <a:off x="5943600" y="1691640"/>
            <a:ext cx="1280160" cy="23774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950" lang="en-US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dirty="0" sz="950" lang="en-US"/>
          </a:p>
        </p:txBody>
      </p:sp>
      <p:sp>
        <p:nvSpPr>
          <p:cNvPr id="1048675" name="Text 26"/>
          <p:cNvSpPr/>
          <p:nvPr/>
        </p:nvSpPr>
        <p:spPr>
          <a:xfrm>
            <a:off x="7269480" y="1691640"/>
            <a:ext cx="1417320" cy="23774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50" lang="en-US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encoding</a:t>
            </a:r>
            <a:endParaRPr dirty="0" sz="950" lang="en-US"/>
          </a:p>
        </p:txBody>
      </p:sp>
      <p:sp>
        <p:nvSpPr>
          <p:cNvPr id="1048676" name="Text 27"/>
          <p:cNvSpPr/>
          <p:nvPr/>
        </p:nvSpPr>
        <p:spPr>
          <a:xfrm>
            <a:off x="5943600" y="1965960"/>
            <a:ext cx="1280160" cy="23774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950" lang="en-US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endParaRPr dirty="0" sz="950" lang="en-US"/>
          </a:p>
        </p:txBody>
      </p:sp>
      <p:sp>
        <p:nvSpPr>
          <p:cNvPr id="1048677" name="Text 28"/>
          <p:cNvSpPr/>
          <p:nvPr/>
        </p:nvSpPr>
        <p:spPr>
          <a:xfrm>
            <a:off x="7269480" y="1965960"/>
            <a:ext cx="1417320" cy="23774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50" lang="en-US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(8 cats)</a:t>
            </a:r>
            <a:endParaRPr dirty="0" sz="950" lang="en-US"/>
          </a:p>
        </p:txBody>
      </p:sp>
      <p:sp>
        <p:nvSpPr>
          <p:cNvPr id="1048678" name="Text 29"/>
          <p:cNvSpPr/>
          <p:nvPr/>
        </p:nvSpPr>
        <p:spPr>
          <a:xfrm>
            <a:off x="5943600" y="2240280"/>
            <a:ext cx="1280160" cy="23774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950" lang="en-US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storage_type</a:t>
            </a:r>
            <a:endParaRPr dirty="0" sz="950" lang="en-US"/>
          </a:p>
        </p:txBody>
      </p:sp>
      <p:sp>
        <p:nvSpPr>
          <p:cNvPr id="1048679" name="Text 30"/>
          <p:cNvSpPr/>
          <p:nvPr/>
        </p:nvSpPr>
        <p:spPr>
          <a:xfrm>
            <a:off x="7269480" y="2240280"/>
            <a:ext cx="1417320" cy="23774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50" lang="en-US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(3 cats)</a:t>
            </a:r>
            <a:endParaRPr dirty="0" sz="950" lang="en-US"/>
          </a:p>
        </p:txBody>
      </p:sp>
      <p:sp>
        <p:nvSpPr>
          <p:cNvPr id="1048680" name="Text 31"/>
          <p:cNvSpPr/>
          <p:nvPr/>
        </p:nvSpPr>
        <p:spPr>
          <a:xfrm>
            <a:off x="5943600" y="2514600"/>
            <a:ext cx="1280160" cy="23774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950" lang="en-US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ram_type</a:t>
            </a:r>
            <a:endParaRPr dirty="0" sz="950" lang="en-US"/>
          </a:p>
        </p:txBody>
      </p:sp>
      <p:sp>
        <p:nvSpPr>
          <p:cNvPr id="1048681" name="Text 32"/>
          <p:cNvSpPr/>
          <p:nvPr/>
        </p:nvSpPr>
        <p:spPr>
          <a:xfrm>
            <a:off x="7269480" y="2514600"/>
            <a:ext cx="1417320" cy="23774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50" lang="en-US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(6 cats)</a:t>
            </a:r>
            <a:endParaRPr dirty="0" sz="950" lang="en-US"/>
          </a:p>
        </p:txBody>
      </p:sp>
      <p:sp>
        <p:nvSpPr>
          <p:cNvPr id="1048682" name="Text 33"/>
          <p:cNvSpPr/>
          <p:nvPr/>
        </p:nvSpPr>
        <p:spPr>
          <a:xfrm>
            <a:off x="5943600" y="2788920"/>
            <a:ext cx="1280160" cy="23774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950" lang="en-US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gpu_type</a:t>
            </a:r>
            <a:endParaRPr dirty="0" sz="950" lang="en-US"/>
          </a:p>
        </p:txBody>
      </p:sp>
      <p:sp>
        <p:nvSpPr>
          <p:cNvPr id="1048683" name="Text 34"/>
          <p:cNvSpPr/>
          <p:nvPr/>
        </p:nvSpPr>
        <p:spPr>
          <a:xfrm>
            <a:off x="7269480" y="2788920"/>
            <a:ext cx="1417320" cy="23774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50" lang="en-US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(2 cats)</a:t>
            </a:r>
            <a:endParaRPr dirty="0" sz="950" lang="en-US"/>
          </a:p>
        </p:txBody>
      </p:sp>
      <p:sp>
        <p:nvSpPr>
          <p:cNvPr id="1048684" name="Text 35"/>
          <p:cNvSpPr/>
          <p:nvPr/>
        </p:nvSpPr>
        <p:spPr>
          <a:xfrm>
            <a:off x="5943600" y="3063240"/>
            <a:ext cx="1280160" cy="23774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950" lang="en-US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cpu_brand</a:t>
            </a:r>
            <a:endParaRPr dirty="0" sz="950" lang="en-US"/>
          </a:p>
        </p:txBody>
      </p:sp>
      <p:sp>
        <p:nvSpPr>
          <p:cNvPr id="1048685" name="Text 36"/>
          <p:cNvSpPr/>
          <p:nvPr/>
        </p:nvSpPr>
        <p:spPr>
          <a:xfrm>
            <a:off x="7269480" y="3063240"/>
            <a:ext cx="1417320" cy="23774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50" lang="en-US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(6 cats)</a:t>
            </a:r>
            <a:endParaRPr dirty="0" sz="950" lang="en-US"/>
          </a:p>
        </p:txBody>
      </p:sp>
      <p:sp>
        <p:nvSpPr>
          <p:cNvPr id="1048686" name="Text 37"/>
          <p:cNvSpPr/>
          <p:nvPr/>
        </p:nvSpPr>
        <p:spPr>
          <a:xfrm>
            <a:off x="5943600" y="3337560"/>
            <a:ext cx="1280160" cy="23774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950" lang="en-US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cpu_tier</a:t>
            </a:r>
            <a:endParaRPr dirty="0" sz="950" lang="en-US"/>
          </a:p>
        </p:txBody>
      </p:sp>
      <p:sp>
        <p:nvSpPr>
          <p:cNvPr id="1048687" name="Text 38"/>
          <p:cNvSpPr/>
          <p:nvPr/>
        </p:nvSpPr>
        <p:spPr>
          <a:xfrm>
            <a:off x="7269480" y="3337560"/>
            <a:ext cx="1417320" cy="23774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50" lang="en-US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(11 cats)</a:t>
            </a:r>
            <a:endParaRPr dirty="0" sz="950" lang="en-US"/>
          </a:p>
        </p:txBody>
      </p:sp>
      <p:sp>
        <p:nvSpPr>
          <p:cNvPr id="1048688" name="Text 39"/>
          <p:cNvSpPr/>
          <p:nvPr/>
        </p:nvSpPr>
        <p:spPr>
          <a:xfrm>
            <a:off x="5943600" y="3657600"/>
            <a:ext cx="2743200" cy="56692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 total features</a:t>
            </a:r>
            <a:endParaRPr dirty="0" sz="1100" lang="en-US"/>
          </a:p>
          <a:p>
            <a:pPr algn="ctr" indent="0" marL="0">
              <a:buNone/>
            </a:pPr>
            <a:r>
              <a:rPr b="1" dirty="0" sz="1100" lang="en-US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encoding</a:t>
            </a:r>
            <a:endParaRPr dirty="0" sz="1100" lang="en-US"/>
          </a:p>
        </p:txBody>
      </p:sp>
      <p:sp>
        <p:nvSpPr>
          <p:cNvPr id="1048689" name="Shape 40"/>
          <p:cNvSpPr/>
          <p:nvPr/>
        </p:nvSpPr>
        <p:spPr>
          <a:xfrm>
            <a:off x="0" y="4796028"/>
            <a:ext cx="9144000" cy="347472"/>
          </a:xfrm>
          <a:prstGeom prst="rect"/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48690" name="Text 41"/>
          <p:cNvSpPr/>
          <p:nvPr/>
        </p:nvSpPr>
        <p:spPr>
          <a:xfrm>
            <a:off x="274320" y="4832604"/>
            <a:ext cx="859536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Price Prediction Using Machine Learning</a:t>
            </a:r>
            <a:endParaRPr dirty="0" sz="900"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Text 0"/>
          <p:cNvSpPr/>
          <p:nvPr/>
        </p:nvSpPr>
        <p:spPr>
          <a:xfrm>
            <a:off x="365760" y="164592"/>
            <a:ext cx="8412480" cy="475488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b="1" dirty="0" sz="2800" lang="en-US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Results</a:t>
            </a:r>
            <a:endParaRPr dirty="0" sz="2800" lang="en-US"/>
          </a:p>
        </p:txBody>
      </p:sp>
      <p:sp>
        <p:nvSpPr>
          <p:cNvPr id="1048613" name="Shape 1"/>
          <p:cNvSpPr/>
          <p:nvPr/>
        </p:nvSpPr>
        <p:spPr>
          <a:xfrm>
            <a:off x="365760" y="658368"/>
            <a:ext cx="914400" cy="41148"/>
          </a:xfrm>
          <a:prstGeom prst="rect"/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pic>
        <p:nvPicPr>
          <p:cNvPr id="2097157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274320" y="822960"/>
            <a:ext cx="4867422" cy="3662172"/>
          </a:xfrm>
          <a:prstGeom prst="rect"/>
        </p:spPr>
      </p:pic>
      <p:sp>
        <p:nvSpPr>
          <p:cNvPr id="1048614" name="Shape 2"/>
          <p:cNvSpPr/>
          <p:nvPr/>
        </p:nvSpPr>
        <p:spPr>
          <a:xfrm>
            <a:off x="5394960" y="545475"/>
            <a:ext cx="1325880" cy="292608"/>
          </a:xfrm>
          <a:prstGeom prst="rect"/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48615" name="Text 3"/>
          <p:cNvSpPr/>
          <p:nvPr/>
        </p:nvSpPr>
        <p:spPr>
          <a:xfrm>
            <a:off x="5440680" y="545475"/>
            <a:ext cx="1252728" cy="29260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9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dirty="0" sz="950" lang="en-US"/>
          </a:p>
        </p:txBody>
      </p:sp>
      <p:sp>
        <p:nvSpPr>
          <p:cNvPr id="1048616" name="Shape 4"/>
          <p:cNvSpPr/>
          <p:nvPr/>
        </p:nvSpPr>
        <p:spPr>
          <a:xfrm>
            <a:off x="6766560" y="545475"/>
            <a:ext cx="914400" cy="292608"/>
          </a:xfrm>
          <a:prstGeom prst="rect"/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48617" name="Text 5"/>
          <p:cNvSpPr/>
          <p:nvPr/>
        </p:nvSpPr>
        <p:spPr>
          <a:xfrm>
            <a:off x="6812280" y="545475"/>
            <a:ext cx="841248" cy="29260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9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dirty="0" sz="950" lang="en-US"/>
          </a:p>
        </p:txBody>
      </p:sp>
      <p:sp>
        <p:nvSpPr>
          <p:cNvPr id="1048618" name="Shape 6"/>
          <p:cNvSpPr/>
          <p:nvPr/>
        </p:nvSpPr>
        <p:spPr>
          <a:xfrm>
            <a:off x="7726680" y="545475"/>
            <a:ext cx="1051560" cy="292608"/>
          </a:xfrm>
          <a:prstGeom prst="rect"/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48619" name="Text 7"/>
          <p:cNvSpPr/>
          <p:nvPr/>
        </p:nvSpPr>
        <p:spPr>
          <a:xfrm>
            <a:off x="7772400" y="545475"/>
            <a:ext cx="978408" cy="29260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9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(INR)</a:t>
            </a:r>
            <a:endParaRPr dirty="0" sz="950" lang="en-US"/>
          </a:p>
        </p:txBody>
      </p:sp>
      <p:sp>
        <p:nvSpPr>
          <p:cNvPr id="1048620" name="Shape 8"/>
          <p:cNvSpPr/>
          <p:nvPr/>
        </p:nvSpPr>
        <p:spPr>
          <a:xfrm>
            <a:off x="5394960" y="856371"/>
            <a:ext cx="1325880" cy="365760"/>
          </a:xfrm>
          <a:prstGeom prst="rect"/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8621" name="Text 9"/>
          <p:cNvSpPr/>
          <p:nvPr/>
        </p:nvSpPr>
        <p:spPr>
          <a:xfrm>
            <a:off x="5440680" y="865515"/>
            <a:ext cx="1252728" cy="34747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50" lang="en-US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dirty="0" sz="950" lang="en-US"/>
          </a:p>
        </p:txBody>
      </p:sp>
      <p:sp>
        <p:nvSpPr>
          <p:cNvPr id="1048622" name="Shape 10"/>
          <p:cNvSpPr/>
          <p:nvPr/>
        </p:nvSpPr>
        <p:spPr>
          <a:xfrm>
            <a:off x="6766560" y="856371"/>
            <a:ext cx="914400" cy="365760"/>
          </a:xfrm>
          <a:prstGeom prst="rect"/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8623" name="Text 11"/>
          <p:cNvSpPr/>
          <p:nvPr/>
        </p:nvSpPr>
        <p:spPr>
          <a:xfrm>
            <a:off x="6812280" y="865515"/>
            <a:ext cx="841248" cy="34747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50" lang="en-US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0.8098</a:t>
            </a:r>
            <a:endParaRPr dirty="0" sz="950" lang="en-US"/>
          </a:p>
        </p:txBody>
      </p:sp>
      <p:sp>
        <p:nvSpPr>
          <p:cNvPr id="1048624" name="Shape 12"/>
          <p:cNvSpPr/>
          <p:nvPr/>
        </p:nvSpPr>
        <p:spPr>
          <a:xfrm>
            <a:off x="7726680" y="856371"/>
            <a:ext cx="1051560" cy="365760"/>
          </a:xfrm>
          <a:prstGeom prst="rect"/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8625" name="Text 13"/>
          <p:cNvSpPr/>
          <p:nvPr/>
        </p:nvSpPr>
        <p:spPr>
          <a:xfrm>
            <a:off x="7772400" y="865515"/>
            <a:ext cx="978408" cy="34747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50" lang="en-US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₹23,557</a:t>
            </a:r>
            <a:endParaRPr dirty="0" sz="950" lang="en-US"/>
          </a:p>
        </p:txBody>
      </p:sp>
      <p:sp>
        <p:nvSpPr>
          <p:cNvPr id="1048626" name="Shape 14"/>
          <p:cNvSpPr/>
          <p:nvPr/>
        </p:nvSpPr>
        <p:spPr>
          <a:xfrm>
            <a:off x="5394960" y="1258707"/>
            <a:ext cx="1325880" cy="365760"/>
          </a:xfrm>
          <a:prstGeom prst="rect"/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8627" name="Text 15"/>
          <p:cNvSpPr/>
          <p:nvPr/>
        </p:nvSpPr>
        <p:spPr>
          <a:xfrm>
            <a:off x="5440680" y="1267851"/>
            <a:ext cx="1252728" cy="34747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★</a:t>
            </a:r>
            <a:endParaRPr dirty="0" sz="1000" lang="en-US"/>
          </a:p>
        </p:txBody>
      </p:sp>
      <p:sp>
        <p:nvSpPr>
          <p:cNvPr id="1048628" name="Shape 16"/>
          <p:cNvSpPr/>
          <p:nvPr/>
        </p:nvSpPr>
        <p:spPr>
          <a:xfrm>
            <a:off x="6766560" y="1258707"/>
            <a:ext cx="914400" cy="365760"/>
          </a:xfrm>
          <a:prstGeom prst="rect"/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8629" name="Text 17"/>
          <p:cNvSpPr/>
          <p:nvPr/>
        </p:nvSpPr>
        <p:spPr>
          <a:xfrm>
            <a:off x="6812280" y="1267851"/>
            <a:ext cx="841248" cy="34747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0.8102</a:t>
            </a:r>
            <a:endParaRPr dirty="0" sz="1000" lang="en-US"/>
          </a:p>
        </p:txBody>
      </p:sp>
      <p:sp>
        <p:nvSpPr>
          <p:cNvPr id="1048630" name="Shape 18"/>
          <p:cNvSpPr/>
          <p:nvPr/>
        </p:nvSpPr>
        <p:spPr>
          <a:xfrm>
            <a:off x="7726680" y="1258707"/>
            <a:ext cx="1051560" cy="365760"/>
          </a:xfrm>
          <a:prstGeom prst="rect"/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8631" name="Text 19"/>
          <p:cNvSpPr/>
          <p:nvPr/>
        </p:nvSpPr>
        <p:spPr>
          <a:xfrm>
            <a:off x="7772400" y="1267851"/>
            <a:ext cx="978408" cy="34747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₹23,560</a:t>
            </a:r>
            <a:endParaRPr dirty="0" sz="1000" lang="en-US"/>
          </a:p>
        </p:txBody>
      </p:sp>
      <p:sp>
        <p:nvSpPr>
          <p:cNvPr id="1048632" name="Shape 20"/>
          <p:cNvSpPr/>
          <p:nvPr/>
        </p:nvSpPr>
        <p:spPr>
          <a:xfrm>
            <a:off x="5394960" y="1661043"/>
            <a:ext cx="1325880" cy="365760"/>
          </a:xfrm>
          <a:prstGeom prst="rect"/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8633" name="Text 21"/>
          <p:cNvSpPr/>
          <p:nvPr/>
        </p:nvSpPr>
        <p:spPr>
          <a:xfrm>
            <a:off x="5440680" y="1670187"/>
            <a:ext cx="1252728" cy="34747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50" lang="en-US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</a:t>
            </a:r>
            <a:endParaRPr dirty="0" sz="950" lang="en-US"/>
          </a:p>
        </p:txBody>
      </p:sp>
      <p:sp>
        <p:nvSpPr>
          <p:cNvPr id="1048634" name="Shape 22"/>
          <p:cNvSpPr/>
          <p:nvPr/>
        </p:nvSpPr>
        <p:spPr>
          <a:xfrm>
            <a:off x="6766560" y="1661043"/>
            <a:ext cx="914400" cy="365760"/>
          </a:xfrm>
          <a:prstGeom prst="rect"/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8635" name="Text 23"/>
          <p:cNvSpPr/>
          <p:nvPr/>
        </p:nvSpPr>
        <p:spPr>
          <a:xfrm>
            <a:off x="6812280" y="1670187"/>
            <a:ext cx="841248" cy="34747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50" lang="en-US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0.7545</a:t>
            </a:r>
            <a:endParaRPr dirty="0" sz="950" lang="en-US"/>
          </a:p>
        </p:txBody>
      </p:sp>
      <p:sp>
        <p:nvSpPr>
          <p:cNvPr id="1048636" name="Shape 24"/>
          <p:cNvSpPr/>
          <p:nvPr/>
        </p:nvSpPr>
        <p:spPr>
          <a:xfrm>
            <a:off x="7726680" y="1661043"/>
            <a:ext cx="1051560" cy="365760"/>
          </a:xfrm>
          <a:prstGeom prst="rect"/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8637" name="Text 25"/>
          <p:cNvSpPr/>
          <p:nvPr/>
        </p:nvSpPr>
        <p:spPr>
          <a:xfrm>
            <a:off x="7772400" y="1670187"/>
            <a:ext cx="978408" cy="34747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50" lang="en-US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₹27,069</a:t>
            </a:r>
            <a:endParaRPr dirty="0" sz="950" lang="en-US"/>
          </a:p>
        </p:txBody>
      </p:sp>
      <p:sp>
        <p:nvSpPr>
          <p:cNvPr id="1048638" name="Shape 26"/>
          <p:cNvSpPr/>
          <p:nvPr/>
        </p:nvSpPr>
        <p:spPr>
          <a:xfrm>
            <a:off x="5367528" y="2094679"/>
            <a:ext cx="3383280" cy="804672"/>
          </a:xfrm>
          <a:prstGeom prst="roundRect">
            <a:avLst>
              <a:gd name="adj" fmla="val 9091"/>
            </a:avLst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8639" name="Text 27"/>
          <p:cNvSpPr/>
          <p:nvPr/>
        </p:nvSpPr>
        <p:spPr>
          <a:xfrm>
            <a:off x="5504688" y="2149543"/>
            <a:ext cx="3154680" cy="69494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is the best model</a:t>
            </a:r>
            <a:endParaRPr b="1" dirty="0" sz="1100" lang="en-US"/>
          </a:p>
          <a:p>
            <a:pPr indent="0" marL="0">
              <a:buNone/>
            </a:pPr>
            <a:r>
              <a:rPr b="1" dirty="0" sz="1100" lang="en-US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0.8102 — explains 81% of</a:t>
            </a:r>
            <a:endParaRPr b="1" dirty="0" sz="1100" lang="en-US"/>
          </a:p>
          <a:p>
            <a:pPr indent="0" marL="0">
              <a:buNone/>
            </a:pPr>
            <a:r>
              <a:rPr b="1" dirty="0" sz="1100" lang="en-US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variance on test set.</a:t>
            </a:r>
            <a:endParaRPr b="1" dirty="0" sz="1100" lang="en-US"/>
          </a:p>
        </p:txBody>
      </p:sp>
      <p:sp>
        <p:nvSpPr>
          <p:cNvPr id="1048640" name="Shape 28"/>
          <p:cNvSpPr/>
          <p:nvPr/>
        </p:nvSpPr>
        <p:spPr>
          <a:xfrm>
            <a:off x="5367528" y="3009079"/>
            <a:ext cx="3383280" cy="804672"/>
          </a:xfrm>
          <a:prstGeom prst="roundRect">
            <a:avLst>
              <a:gd name="adj" fmla="val 9091"/>
            </a:avLst>
          </a:prstGeom>
          <a:solidFill>
            <a:schemeClr val="accent1">
              <a:lumMod val="40000"/>
              <a:lumOff val="60000"/>
            </a:schemeClr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8641" name="Text 29"/>
          <p:cNvSpPr/>
          <p:nvPr/>
        </p:nvSpPr>
        <p:spPr>
          <a:xfrm>
            <a:off x="5504688" y="3063943"/>
            <a:ext cx="3154680" cy="69494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≈ ₹23,500 in practice</a:t>
            </a:r>
            <a:endParaRPr b="1" dirty="0" sz="1100" lang="en-US"/>
          </a:p>
          <a:p>
            <a:pPr indent="0" marL="0">
              <a:buNone/>
            </a:pPr>
            <a:r>
              <a:rPr b="1" dirty="0" sz="1100" lang="en-US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prediction error on a</a:t>
            </a:r>
            <a:endParaRPr b="1" dirty="0" sz="1100" lang="en-US"/>
          </a:p>
          <a:p>
            <a:pPr indent="0" marL="0">
              <a:buNone/>
            </a:pPr>
            <a:r>
              <a:rPr b="1" dirty="0" sz="1100" lang="en-US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₹74K median price laptop.</a:t>
            </a:r>
            <a:endParaRPr b="1" dirty="0" sz="1100" lang="en-US"/>
          </a:p>
        </p:txBody>
      </p:sp>
      <p:sp>
        <p:nvSpPr>
          <p:cNvPr id="1048642" name="Shape 30"/>
          <p:cNvSpPr/>
          <p:nvPr/>
        </p:nvSpPr>
        <p:spPr>
          <a:xfrm>
            <a:off x="5367528" y="3923479"/>
            <a:ext cx="3383280" cy="804672"/>
          </a:xfrm>
          <a:prstGeom prst="roundRect">
            <a:avLst>
              <a:gd name="adj" fmla="val 9091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8643" name="Text 31"/>
          <p:cNvSpPr/>
          <p:nvPr/>
        </p:nvSpPr>
        <p:spPr>
          <a:xfrm>
            <a:off x="5504688" y="3978343"/>
            <a:ext cx="3154680" cy="69494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over-eliminated features</a:t>
            </a:r>
            <a:endParaRPr b="1" dirty="0" sz="1100" lang="en-US"/>
          </a:p>
          <a:p>
            <a:pPr indent="0" marL="0">
              <a:buNone/>
            </a:pPr>
            <a:r>
              <a:rPr b="1" dirty="0" sz="1100" lang="en-US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penalty removed columns</a:t>
            </a:r>
            <a:endParaRPr b="1" dirty="0" sz="1100" lang="en-US"/>
          </a:p>
          <a:p>
            <a:pPr indent="0" marL="0">
              <a:buNone/>
            </a:pPr>
            <a:r>
              <a:rPr b="1" dirty="0" sz="1100" lang="en-US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contributing real signal.</a:t>
            </a:r>
            <a:endParaRPr b="1" dirty="0" sz="1100" lang="en-US"/>
          </a:p>
        </p:txBody>
      </p:sp>
      <p:sp>
        <p:nvSpPr>
          <p:cNvPr id="1048644" name="Shape 32"/>
          <p:cNvSpPr/>
          <p:nvPr/>
        </p:nvSpPr>
        <p:spPr>
          <a:xfrm>
            <a:off x="0" y="4796028"/>
            <a:ext cx="9144000" cy="347472"/>
          </a:xfrm>
          <a:prstGeom prst="rect"/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48645" name="Text 33"/>
          <p:cNvSpPr/>
          <p:nvPr/>
        </p:nvSpPr>
        <p:spPr>
          <a:xfrm>
            <a:off x="274320" y="4832604"/>
            <a:ext cx="859536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Price Prediction Using Machine Learning</a:t>
            </a:r>
            <a:endParaRPr dirty="0" sz="900"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Text 0"/>
          <p:cNvSpPr/>
          <p:nvPr/>
        </p:nvSpPr>
        <p:spPr>
          <a:xfrm>
            <a:off x="365760" y="164592"/>
            <a:ext cx="8412480" cy="475488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b="1" dirty="0" sz="2800" lang="en-US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Ridge Regression — Deep Dive</a:t>
            </a:r>
            <a:endParaRPr dirty="0" sz="2800" lang="en-US"/>
          </a:p>
        </p:txBody>
      </p:sp>
      <p:sp>
        <p:nvSpPr>
          <p:cNvPr id="1048605" name="Shape 1"/>
          <p:cNvSpPr/>
          <p:nvPr/>
        </p:nvSpPr>
        <p:spPr>
          <a:xfrm>
            <a:off x="365760" y="658368"/>
            <a:ext cx="914400" cy="41148"/>
          </a:xfrm>
          <a:prstGeom prst="rect"/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pic>
        <p:nvPicPr>
          <p:cNvPr id="2097155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274320" y="777240"/>
            <a:ext cx="4389120" cy="3657600"/>
          </a:xfrm>
          <a:prstGeom prst="rect"/>
        </p:spPr>
      </p:pic>
      <p:sp>
        <p:nvSpPr>
          <p:cNvPr id="1048606" name="Text 2"/>
          <p:cNvSpPr/>
          <p:nvPr/>
        </p:nvSpPr>
        <p:spPr>
          <a:xfrm>
            <a:off x="4928388" y="3412647"/>
            <a:ext cx="4023360" cy="1202787"/>
          </a:xfrm>
          <a:prstGeom prst="rect"/>
          <a:noFill/>
        </p:spPr>
        <p:txBody>
          <a:bodyPr anchor="ctr" bIns="0" lIns="0" rIns="0" rtlCol="0" tIns="0" wrap="square"/>
          <a:p>
            <a:pPr indent="-342900" marL="342900">
              <a:spcAft>
                <a:spcPts val="500"/>
              </a:spcAft>
              <a:buSzPct val="100000"/>
              <a:buChar char="•"/>
            </a:pPr>
            <a:r>
              <a:rPr dirty="0" sz="1050" lang="en-US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hug the diagonal → strong predictive accuracy across all price tiers</a:t>
            </a:r>
            <a:endParaRPr dirty="0" sz="1050" lang="en-US"/>
          </a:p>
          <a:p>
            <a:pPr indent="-342900" marL="342900">
              <a:spcAft>
                <a:spcPts val="500"/>
              </a:spcAft>
              <a:buSzPct val="100000"/>
              <a:buChar char="•"/>
            </a:pPr>
            <a:r>
              <a:rPr dirty="0" sz="1050" lang="en-US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cpu_tier_Ryzen 9 &amp; i9 = strongest positive price drivers</a:t>
            </a:r>
            <a:endParaRPr dirty="0" sz="1050" lang="en-US"/>
          </a:p>
          <a:p>
            <a:pPr indent="-342900" marL="342900">
              <a:spcAft>
                <a:spcPts val="500"/>
              </a:spcAft>
              <a:buSzPct val="100000"/>
              <a:buChar char="•"/>
            </a:pPr>
            <a:r>
              <a:rPr dirty="0" sz="1050" lang="en-US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cpu_tier_Budget/Workstation = largest negative coefficient (price penalty)</a:t>
            </a:r>
            <a:endParaRPr dirty="0" sz="1050" lang="en-US"/>
          </a:p>
          <a:p>
            <a:pPr indent="-342900" marL="342900">
              <a:spcAft>
                <a:spcPts val="500"/>
              </a:spcAft>
              <a:buSzPct val="100000"/>
              <a:buChar char="•"/>
            </a:pPr>
            <a:r>
              <a:rPr dirty="0" sz="1050" lang="en-US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 storage type adds consistent positive premium over HDD</a:t>
            </a:r>
            <a:endParaRPr dirty="0" sz="1050" lang="en-US"/>
          </a:p>
        </p:txBody>
      </p:sp>
      <p:sp>
        <p:nvSpPr>
          <p:cNvPr id="1048607" name="Shape 3"/>
          <p:cNvSpPr/>
          <p:nvPr/>
        </p:nvSpPr>
        <p:spPr>
          <a:xfrm>
            <a:off x="0" y="4796028"/>
            <a:ext cx="9144000" cy="347472"/>
          </a:xfrm>
          <a:prstGeom prst="rect"/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48608" name="Text 4"/>
          <p:cNvSpPr/>
          <p:nvPr/>
        </p:nvSpPr>
        <p:spPr>
          <a:xfrm>
            <a:off x="274320" y="4832604"/>
            <a:ext cx="859536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Price Prediction Using Machine Learning</a:t>
            </a:r>
            <a:endParaRPr dirty="0" sz="900" lang="en-US"/>
          </a:p>
        </p:txBody>
      </p:sp>
      <p:pic>
        <p:nvPicPr>
          <p:cNvPr id="2097156" name="Picture 9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4672811" y="699516"/>
            <a:ext cx="4278937" cy="2569464"/>
          </a:xfrm>
          <a:prstGeom prst="rect"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ext 0"/>
          <p:cNvSpPr/>
          <p:nvPr/>
        </p:nvSpPr>
        <p:spPr>
          <a:xfrm>
            <a:off x="457200" y="201168"/>
            <a:ext cx="8229600" cy="5943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36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dirty="0" sz="3600" lang="en-US"/>
          </a:p>
        </p:txBody>
      </p:sp>
      <p:sp>
        <p:nvSpPr>
          <p:cNvPr id="1048577" name="Shape 1"/>
          <p:cNvSpPr/>
          <p:nvPr/>
        </p:nvSpPr>
        <p:spPr>
          <a:xfrm>
            <a:off x="365760" y="1234440"/>
            <a:ext cx="4114800" cy="1508760"/>
          </a:xfrm>
          <a:prstGeom prst="roundRect">
            <a:avLst>
              <a:gd name="adj" fmla="val 6061"/>
            </a:avLst>
          </a:prstGeom>
          <a:solidFill>
            <a:srgbClr val="253380">
              <a:alpha val="90000"/>
            </a:srgbClr>
          </a:solidFill>
          <a:effectLst>
            <a:outerShdw algn="bl" blurRad="101600" dir="2700000" dist="25400" rotWithShape="0">
              <a:srgbClr val="000000">
                <a:alpha val="18000"/>
              </a:srgbClr>
            </a:outerShdw>
          </a:effectLst>
        </p:spPr>
      </p:sp>
      <p:sp>
        <p:nvSpPr>
          <p:cNvPr id="1048578" name="Text 2"/>
          <p:cNvSpPr/>
          <p:nvPr/>
        </p:nvSpPr>
        <p:spPr>
          <a:xfrm>
            <a:off x="946050" y="1362456"/>
            <a:ext cx="3246120" cy="32918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5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Engineering is the Real Work</a:t>
            </a:r>
            <a:endParaRPr dirty="0" sz="1500" lang="en-US"/>
          </a:p>
        </p:txBody>
      </p:sp>
      <p:sp>
        <p:nvSpPr>
          <p:cNvPr id="1048579" name="Text 3"/>
          <p:cNvSpPr/>
          <p:nvPr/>
        </p:nvSpPr>
        <p:spPr>
          <a:xfrm>
            <a:off x="946050" y="1709928"/>
            <a:ext cx="3246120" cy="9144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100" lang="en-US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datasets evaluated, 4 merged, 1 rejected after systematic validation. ETL pipeline built per-source before combining.</a:t>
            </a:r>
            <a:endParaRPr dirty="0" sz="1100" lang="en-US"/>
          </a:p>
        </p:txBody>
      </p:sp>
      <p:sp>
        <p:nvSpPr>
          <p:cNvPr id="1048580" name="Shape 4"/>
          <p:cNvSpPr/>
          <p:nvPr/>
        </p:nvSpPr>
        <p:spPr>
          <a:xfrm>
            <a:off x="4709160" y="1234440"/>
            <a:ext cx="4114800" cy="1508760"/>
          </a:xfrm>
          <a:prstGeom prst="roundRect">
            <a:avLst>
              <a:gd name="adj" fmla="val 6061"/>
            </a:avLst>
          </a:prstGeom>
          <a:solidFill>
            <a:srgbClr val="253380">
              <a:alpha val="90000"/>
            </a:srgbClr>
          </a:solidFill>
          <a:effectLst>
            <a:outerShdw algn="bl" blurRad="101600" dir="2700000" dist="25400" rotWithShape="0">
              <a:srgbClr val="000000">
                <a:alpha val="18000"/>
              </a:srgbClr>
            </a:outerShdw>
          </a:effectLst>
        </p:spPr>
      </p:sp>
      <p:sp>
        <p:nvSpPr>
          <p:cNvPr id="1048581" name="Text 5"/>
          <p:cNvSpPr/>
          <p:nvPr/>
        </p:nvSpPr>
        <p:spPr>
          <a:xfrm>
            <a:off x="5303518" y="1355422"/>
            <a:ext cx="3246120" cy="32918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5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Extraction &gt; Raw Encoding</a:t>
            </a:r>
            <a:endParaRPr dirty="0" sz="1500" lang="en-US"/>
          </a:p>
        </p:txBody>
      </p:sp>
      <p:sp>
        <p:nvSpPr>
          <p:cNvPr id="1048582" name="Text 6"/>
          <p:cNvSpPr/>
          <p:nvPr/>
        </p:nvSpPr>
        <p:spPr>
          <a:xfrm>
            <a:off x="5303518" y="1702894"/>
            <a:ext cx="3246120" cy="9144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100" lang="en-US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400+ unique processor/GPU strings to 3 clean columns. Target encoding for brand avoided 36 sparse dummies.</a:t>
            </a:r>
            <a:endParaRPr dirty="0" sz="1100" lang="en-US"/>
          </a:p>
        </p:txBody>
      </p:sp>
      <p:sp>
        <p:nvSpPr>
          <p:cNvPr id="1048583" name="Shape 7"/>
          <p:cNvSpPr/>
          <p:nvPr/>
        </p:nvSpPr>
        <p:spPr>
          <a:xfrm>
            <a:off x="365760" y="2926080"/>
            <a:ext cx="4114800" cy="1508760"/>
          </a:xfrm>
          <a:prstGeom prst="roundRect">
            <a:avLst>
              <a:gd name="adj" fmla="val 6061"/>
            </a:avLst>
          </a:prstGeom>
          <a:solidFill>
            <a:srgbClr val="253380">
              <a:alpha val="90000"/>
            </a:srgbClr>
          </a:solidFill>
          <a:effectLst>
            <a:outerShdw algn="bl" blurRad="101600" dir="2700000" dist="25400" rotWithShape="0">
              <a:srgbClr val="000000">
                <a:alpha val="18000"/>
              </a:srgbClr>
            </a:outerShdw>
          </a:effectLst>
        </p:spPr>
      </p:sp>
      <p:sp>
        <p:nvSpPr>
          <p:cNvPr id="1048584" name="Text 8"/>
          <p:cNvSpPr/>
          <p:nvPr/>
        </p:nvSpPr>
        <p:spPr>
          <a:xfrm>
            <a:off x="931982" y="3054096"/>
            <a:ext cx="3246120" cy="32918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5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Ridge Regression Wins — R² = 0.81</a:t>
            </a:r>
            <a:endParaRPr dirty="0" sz="1500" lang="en-US"/>
          </a:p>
        </p:txBody>
      </p:sp>
      <p:sp>
        <p:nvSpPr>
          <p:cNvPr id="1048585" name="Text 9"/>
          <p:cNvSpPr/>
          <p:nvPr/>
        </p:nvSpPr>
        <p:spPr>
          <a:xfrm>
            <a:off x="931982" y="3401568"/>
            <a:ext cx="3246120" cy="9144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100" lang="en-US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 of price variance explained on a real-world merged dataset — without display size, battery, or weight data.</a:t>
            </a:r>
            <a:endParaRPr dirty="0" sz="1100" lang="en-US"/>
          </a:p>
        </p:txBody>
      </p:sp>
      <p:sp>
        <p:nvSpPr>
          <p:cNvPr id="1048586" name="Shape 10"/>
          <p:cNvSpPr/>
          <p:nvPr/>
        </p:nvSpPr>
        <p:spPr>
          <a:xfrm>
            <a:off x="4709160" y="2926080"/>
            <a:ext cx="4114800" cy="1508760"/>
          </a:xfrm>
          <a:prstGeom prst="roundRect">
            <a:avLst>
              <a:gd name="adj" fmla="val 6061"/>
            </a:avLst>
          </a:prstGeom>
          <a:solidFill>
            <a:srgbClr val="253380">
              <a:alpha val="90000"/>
            </a:srgbClr>
          </a:solidFill>
          <a:effectLst>
            <a:outerShdw algn="bl" blurRad="101600" dir="2700000" dist="25400" rotWithShape="0">
              <a:srgbClr val="000000">
                <a:alpha val="18000"/>
              </a:srgbClr>
            </a:outerShdw>
          </a:effectLst>
        </p:spPr>
      </p:sp>
      <p:sp>
        <p:nvSpPr>
          <p:cNvPr id="1048587" name="Text 11"/>
          <p:cNvSpPr/>
          <p:nvPr/>
        </p:nvSpPr>
        <p:spPr>
          <a:xfrm>
            <a:off x="5310552" y="3054096"/>
            <a:ext cx="3246120" cy="32918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5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Log-Transform is Non-Negotiable</a:t>
            </a:r>
            <a:endParaRPr dirty="0" sz="1500" lang="en-US"/>
          </a:p>
        </p:txBody>
      </p:sp>
      <p:sp>
        <p:nvSpPr>
          <p:cNvPr id="1048588" name="Text 12"/>
          <p:cNvSpPr/>
          <p:nvPr/>
        </p:nvSpPr>
        <p:spPr>
          <a:xfrm>
            <a:off x="5310552" y="3401568"/>
            <a:ext cx="3246120" cy="9144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100" lang="en-US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skewness of 2.08 would have severely biased linear models. log1p reduced skewness to near-zero.</a:t>
            </a:r>
            <a:endParaRPr dirty="0" sz="1100"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Shape 0"/>
          <p:cNvSpPr/>
          <p:nvPr/>
        </p:nvSpPr>
        <p:spPr>
          <a:xfrm>
            <a:off x="6858000" y="-914400"/>
            <a:ext cx="3657600" cy="3657600"/>
          </a:xfrm>
          <a:prstGeom prst="ellipse"/>
          <a:solidFill>
            <a:srgbClr val="253380">
              <a:alpha val="60000"/>
            </a:srgbClr>
          </a:solidFill>
          <a:ln w="12700">
            <a:solidFill>
              <a:srgbClr val="253380"/>
            </a:solidFill>
            <a:prstDash val="solid"/>
          </a:ln>
        </p:spPr>
      </p:sp>
      <p:sp>
        <p:nvSpPr>
          <p:cNvPr id="1048593" name="Shape 1"/>
          <p:cNvSpPr/>
          <p:nvPr/>
        </p:nvSpPr>
        <p:spPr>
          <a:xfrm>
            <a:off x="-914400" y="2926080"/>
            <a:ext cx="2743200" cy="2743200"/>
          </a:xfrm>
          <a:prstGeom prst="ellipse"/>
          <a:solidFill>
            <a:srgbClr val="253380">
              <a:alpha val="60000"/>
            </a:srgbClr>
          </a:solidFill>
          <a:ln w="12700">
            <a:solidFill>
              <a:srgbClr val="253380"/>
            </a:solidFill>
            <a:prstDash val="solid"/>
          </a:ln>
        </p:spPr>
      </p:sp>
      <p:sp>
        <p:nvSpPr>
          <p:cNvPr id="1048594" name="Text 2"/>
          <p:cNvSpPr/>
          <p:nvPr/>
        </p:nvSpPr>
        <p:spPr>
          <a:xfrm>
            <a:off x="457200" y="731520"/>
            <a:ext cx="8229600" cy="7772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48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dirty="0" sz="4800" lang="en-US"/>
          </a:p>
        </p:txBody>
      </p:sp>
      <p:sp>
        <p:nvSpPr>
          <p:cNvPr id="1048595" name="Text 3"/>
          <p:cNvSpPr/>
          <p:nvPr/>
        </p:nvSpPr>
        <p:spPr>
          <a:xfrm>
            <a:off x="457200" y="1508760"/>
            <a:ext cx="8229600" cy="3200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300" i="1" lang="en-US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Price Prediction Using ML</a:t>
            </a:r>
            <a:endParaRPr b="1" dirty="0" sz="1300" lang="en-US"/>
          </a:p>
        </p:txBody>
      </p:sp>
      <p:sp>
        <p:nvSpPr>
          <p:cNvPr id="1048596" name="Shape 4"/>
          <p:cNvSpPr/>
          <p:nvPr/>
        </p:nvSpPr>
        <p:spPr>
          <a:xfrm>
            <a:off x="3200400" y="1920240"/>
            <a:ext cx="2743200" cy="36576"/>
          </a:xfrm>
          <a:prstGeom prst="rect"/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pic>
        <p:nvPicPr>
          <p:cNvPr id="2097152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2848320" y="2307600"/>
            <a:ext cx="274320" cy="274320"/>
          </a:xfrm>
          <a:prstGeom prst="rect"/>
        </p:spPr>
      </p:pic>
      <p:sp>
        <p:nvSpPr>
          <p:cNvPr id="1048597" name="Text 5"/>
          <p:cNvSpPr/>
          <p:nvPr/>
        </p:nvSpPr>
        <p:spPr>
          <a:xfrm>
            <a:off x="3214080" y="2280168"/>
            <a:ext cx="475488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github.com/OfficialSamarthsingh</a:t>
            </a:r>
            <a:endParaRPr dirty="0" sz="1300" lang="en-US"/>
          </a:p>
        </p:txBody>
      </p:sp>
      <p:pic>
        <p:nvPicPr>
          <p:cNvPr id="2097153" name="Image 1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2848320" y="2947680"/>
            <a:ext cx="274320" cy="274320"/>
          </a:xfrm>
          <a:prstGeom prst="rect"/>
        </p:spPr>
      </p:pic>
      <p:sp>
        <p:nvSpPr>
          <p:cNvPr id="1048598" name="Text 6"/>
          <p:cNvSpPr/>
          <p:nvPr/>
        </p:nvSpPr>
        <p:spPr>
          <a:xfrm>
            <a:off x="3214080" y="2920248"/>
            <a:ext cx="475488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linkedin.com/in/samarth-singh</a:t>
            </a:r>
            <a:r>
              <a:rPr altLang="en-GB" dirty="0" sz="1300" lang="en-US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altLang="en-GB" dirty="0" sz="1300" lang="en-US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altLang="en-GB" dirty="0" sz="1300" lang="en-US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r>
              <a:rPr altLang="en-GB" dirty="0" sz="1300" lang="en-US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r>
              <a:rPr altLang="en-GB" dirty="0" sz="1300" lang="en-US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altLang="en-GB" dirty="0" sz="1300" lang="en-US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altLang="en-GB" dirty="0" sz="1300" lang="en-US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altLang="en-GB" dirty="0" sz="1300" lang="en-US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altLang="en-GB" dirty="0" sz="1300" lang="en-US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dirty="0" sz="1300" lang="en-US"/>
          </a:p>
        </p:txBody>
      </p:sp>
      <p:pic>
        <p:nvPicPr>
          <p:cNvPr id="2097154" name="Image 2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2848320" y="3587760"/>
            <a:ext cx="274320" cy="274320"/>
          </a:xfrm>
          <a:prstGeom prst="rect"/>
        </p:spPr>
      </p:pic>
      <p:sp>
        <p:nvSpPr>
          <p:cNvPr id="1048599" name="Text 7"/>
          <p:cNvSpPr/>
          <p:nvPr/>
        </p:nvSpPr>
        <p:spPr>
          <a:xfrm>
            <a:off x="3214080" y="3560328"/>
            <a:ext cx="475488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samarthsinghportfolio.netlify.app</a:t>
            </a:r>
            <a:endParaRPr dirty="0" sz="1300" lang="en-US"/>
          </a:p>
        </p:txBody>
      </p:sp>
      <p:sp>
        <p:nvSpPr>
          <p:cNvPr id="1048600" name="Text 8"/>
          <p:cNvSpPr/>
          <p:nvPr/>
        </p:nvSpPr>
        <p:spPr>
          <a:xfrm>
            <a:off x="914400" y="4434840"/>
            <a:ext cx="7315200" cy="2743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i="1" lang="en-US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Data Analyst internship and entry-level opportunities</a:t>
            </a:r>
            <a:endParaRPr b="1" dirty="0" sz="1100"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Company>PptxGenJS</Company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Laptop Price Prediction Using Machine Learning</dc:title>
  <dc:creator>Samarth Singh</dc:creator>
  <cp:lastModifiedBy>Nobita</cp:lastModifiedBy>
  <dcterms:created xsi:type="dcterms:W3CDTF">2026-07-04T07:24:51Z</dcterms:created>
  <dcterms:modified xsi:type="dcterms:W3CDTF">2026-07-11T17:55:07Z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1ef3c2e357714d92a2687c8a026a1788</vt:lpwstr>
  </property>
</Properties>
</file>